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7995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shares the findings of Case Study 1: how annual members and casual riders use Cyclistic bikes differently. It follows the Share step of Ask, Prepare, Process, Analyze, Share, 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business task, the analysis, the problem we found, the aha moment, the conclusion with recommendations, and an appendix for reference.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Business task.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task in plain words. Casual riders already know Cyclistic, which makes them the most natural group to convert. This deck answers the first of three guiding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audiences. Lily Moreno owns the campaigns and the goal. The analytics team reuses this work for the next two questions. The detail-oriented executive team decides whether to approve the program.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quarterly CSV files cover the full year 2019. After cleaning there are 3,817,991 trips. Data is public, licensed and contains no personal identifiers. The main limitation is that it describes 2019 rides, not individual people.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cleaning steps, all documented in bike_share_cleaning.ipynb. Only 13 rows were removed because their calculated ride length was zero or negative. Very long rides were reviewed and kept, since there was no evidence they were invalid.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simple comparisons answer the question: who rides, when, and for how long. We report both mean and median because a few very long rides pull the mean 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Problem.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3,817,991 rides, 2,937,360 (76.9 percent) were by members and 880,631 (23.1 percent) by casual riders.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81.5 percent weekday and 18.5 percent weekend. Casual: 57.1 percent weekday and 42.9 percent weekend. Weekends matter far more to casual riders.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rides are high and steady from Monday to Friday, then drop at the weekend. Casual rides are low on weekdays and climb from Friday to a Saturday peak of 208,056 rides, then ease on Sunday. Values are in thousands of rides.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Casual riders ride much longer. Mean ride length is 57.0 minutes for casual riders against 14.3 for members, about 4 times longer. At the median it is 25.8 against 9.8 minutes, about 2.6 times longer. The gap between mean and median for casual riders shows a long tail of very long rides.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Aha moment.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aha moment. Multiplying rides by mean ride length gives total riding time. Casual riders: about 3.01 billion seconds, roughly 837 thousand hours. Members: about 2.53 billion seconds, roughly 701 thousand hours. So casual riders account for about 54 percent of time ridden despite being 23 percent of rides. Caveat: the mean includes very long rides that were kept in the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look like routine, weekday riders making short trips, consistent with commuting. Casual riders look like weekend riders making longer trips, consistent with leisure. This is an interpretation: the data does not record why people ride.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Conclusion.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answer the question. Members ride on weekdays for short trips. Casual riders ride at weekends for longer trips. And casual riders account for over half of total riding time.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recommendations tied directly to the findings. Pricing was not part of this dataset, so recommendations 1 and 2 should be checked against current plan prices before launch. Recommendation 3 begins to address the third guiding question on digital media.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for the team. The dataset already contains station names, so a station analysis is a quick follow-up. Seasonality, time of day, pricing and more recent years would strengthen the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Appendix.</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Fields used in the analysis. Gender and birth year were dropped during cleaning.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numbers for the day-of-week chart. Notably, casual riders make about 42 percent of all Saturday rides and about 40 percent of Sunday rides, against 15 to 21 percent on weekdays.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open about limits. These do not change the main findings, but they show where further data would help.</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118"/>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62D"/>
                </a:solidFill>
                <a:latin typeface="Plus Jakarta Sans" pitchFamily="34" charset="0"/>
                <a:ea typeface="Plus Jakarta Sans" pitchFamily="34" charset="-122"/>
                <a:cs typeface="Plus Jakarta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2238"/>
            <a:ext cx="10566400" cy="4152962"/>
          </a:xfrm>
          <a:prstGeom prst="rect">
            <a:avLst/>
          </a:prstGeom>
          <a:noFill/>
          <a:ln/>
        </p:spPr>
        <p:txBody>
          <a:bodyPr wrap="square" lIns="0" tIns="0" rIns="0" bIns="0" rtlCol="0" anchor="t"/>
          <a:lstStyle>
            <a:lvl1pPr marL="0" indent="0" algn="l">
              <a:lnSpc>
                <a:spcPct val="140000"/>
              </a:lnSpc>
              <a:buNone/>
              <a:defRPr lang="en-US" sz="1600" dirty="0">
                <a:solidFill>
                  <a:srgbClr val="14262D"/>
                </a:solidFill>
                <a:latin typeface="Plus Jakarta Sans" pitchFamily="34" charset="0"/>
                <a:ea typeface="Plus Jakarta Sans" pitchFamily="34" charset="-122"/>
                <a:cs typeface="Plus Jakarta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118"/>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62D"/>
                </a:solidFill>
                <a:latin typeface="Plus Jakarta Sans" pitchFamily="34" charset="0"/>
                <a:ea typeface="Plus Jakarta Sans" pitchFamily="34" charset="-122"/>
                <a:cs typeface="Plus Jakarta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2238"/>
            <a:ext cx="10566400" cy="4152962"/>
          </a:xfrm>
          <a:prstGeom prst="rect">
            <a:avLst/>
          </a:prstGeom>
          <a:noFill/>
          <a:ln/>
        </p:spPr>
        <p:txBody>
          <a:bodyPr wrap="square" lIns="0" tIns="0" rIns="0" bIns="0" rtlCol="0" anchor="t"/>
          <a:lstStyle>
            <a:lvl1pPr marL="0" indent="0" algn="l">
              <a:lnSpc>
                <a:spcPct val="140000"/>
              </a:lnSpc>
              <a:buNone/>
              <a:defRPr lang="en-US" sz="1600" dirty="0">
                <a:solidFill>
                  <a:srgbClr val="14262D"/>
                </a:solidFill>
                <a:latin typeface="Plus Jakarta Sans" pitchFamily="34" charset="0"/>
                <a:ea typeface="Plus Jakarta Sans" pitchFamily="34" charset="-122"/>
                <a:cs typeface="Plus Jakarta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4"/>
        </a:solidFill>
        <a:effectLst/>
      </p:bgPr>
    </p:bg>
    <p:spTree>
      <p:nvGrpSpPr>
        <p:cNvPr id="1" name=""/>
        <p:cNvGrpSpPr/>
        <p:nvPr/>
      </p:nvGrpSpPr>
      <p:grpSpPr>
        <a:xfrm>
          <a:off x="0" y="0"/>
          <a:ext cx="0" cy="0"/>
          <a:chOff x="0" y="0"/>
          <a:chExt cx="0" cy="0"/>
        </a:xfrm>
      </p:grpSpPr>
      <p:sp>
        <p:nvSpPr>
          <p:cNvPr id="2" name="Text 0"/>
          <p:cNvSpPr/>
          <p:nvPr/>
        </p:nvSpPr>
        <p:spPr>
          <a:xfrm>
            <a:off x="812800" y="812800"/>
            <a:ext cx="3556000" cy="358114"/>
          </a:xfrm>
          <a:prstGeom prst="roundRect">
            <a:avLst>
              <a:gd name="adj" fmla="val 50000"/>
            </a:avLst>
          </a:prstGeom>
          <a:solidFill>
            <a:srgbClr val="F29A55"/>
          </a:solidFill>
          <a:ln/>
        </p:spPr>
        <p:txBody>
          <a:bodyPr wrap="square" lIns="51188" tIns="11056" rIns="51188" bIns="0" rtlCol="0" anchor="t">
            <a:normAutofit/>
          </a:bodyPr>
          <a:lstStyle/>
          <a:p>
            <a:pPr marL="0" indent="0" algn="ctr">
              <a:lnSpc>
                <a:spcPts val="1820"/>
              </a:lnSpc>
              <a:buNone/>
            </a:pPr>
            <a:r>
              <a:rPr lang="en-US" sz="1300" b="1" kern="0" spc="100" dirty="0">
                <a:solidFill>
                  <a:srgbClr val="0E2A34"/>
                </a:solidFill>
                <a:latin typeface="Plus Jakarta Sans" pitchFamily="34" charset="0"/>
                <a:ea typeface="Plus Jakarta Sans" pitchFamily="34" charset="-122"/>
                <a:cs typeface="Plus Jakarta Sans" pitchFamily="34" charset="-120"/>
              </a:rPr>
              <a:t>CASE STUDY 1 · SHARE PHASE</a:t>
            </a:r>
            <a:endParaRPr lang="en-US" sz="1300" dirty="0"/>
          </a:p>
        </p:txBody>
      </p:sp>
      <p:sp>
        <p:nvSpPr>
          <p:cNvPr id="3" name="Text 1"/>
          <p:cNvSpPr>
            <a:spLocks noGrp="1"/>
          </p:cNvSpPr>
          <p:nvPr>
            <p:ph type="title"/>
          </p:nvPr>
        </p:nvSpPr>
        <p:spPr>
          <a:xfrm>
            <a:off x="812800" y="1736130"/>
            <a:ext cx="6278880" cy="22606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5F3EC"/>
                </a:solidFill>
                <a:latin typeface="Plus Jakarta Sans" pitchFamily="34" charset="0"/>
                <a:ea typeface="Plus Jakarta Sans" pitchFamily="34" charset="-122"/>
                <a:cs typeface="Plus Jakarta Sans" pitchFamily="34" charset="-120"/>
              </a:rPr>
              <a:t>How members and casual riders use Cyclistic bikes differently</a:t>
            </a:r>
            <a:endParaRPr lang="en-US" sz="4000" dirty="0"/>
          </a:p>
        </p:txBody>
      </p:sp>
      <p:sp>
        <p:nvSpPr>
          <p:cNvPr id="4" name="Text 2"/>
          <p:cNvSpPr/>
          <p:nvPr/>
        </p:nvSpPr>
        <p:spPr>
          <a:xfrm>
            <a:off x="812800" y="4123730"/>
            <a:ext cx="6278880" cy="345414"/>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A9BEC6"/>
                </a:solidFill>
                <a:latin typeface="Plus Jakarta Sans" pitchFamily="34" charset="0"/>
                <a:ea typeface="Plus Jakarta Sans" pitchFamily="34" charset="-122"/>
                <a:cs typeface="Plus Jakarta Sans" pitchFamily="34" charset="-120"/>
              </a:rPr>
              <a:t>Cyclistic Bike-Share · Analysis of 2019 trip data</a:t>
            </a:r>
            <a:endParaRPr lang="en-US" sz="1800" dirty="0"/>
          </a:p>
        </p:txBody>
      </p:sp>
      <p:sp>
        <p:nvSpPr>
          <p:cNvPr id="5" name="Text 3"/>
          <p:cNvSpPr/>
          <p:nvPr/>
        </p:nvSpPr>
        <p:spPr>
          <a:xfrm>
            <a:off x="812800" y="5009026"/>
            <a:ext cx="1468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EC6"/>
                </a:solidFill>
                <a:latin typeface="Plus Jakarta Sans" pitchFamily="34" charset="0"/>
                <a:ea typeface="Plus Jakarta Sans" pitchFamily="34" charset="-122"/>
                <a:cs typeface="Plus Jakarta Sans" pitchFamily="34" charset="-120"/>
              </a:rPr>
              <a:t>Presented by</a:t>
            </a:r>
            <a:endParaRPr lang="en-US" sz="1200" dirty="0"/>
          </a:p>
        </p:txBody>
      </p:sp>
      <p:sp>
        <p:nvSpPr>
          <p:cNvPr id="6" name="Text 4"/>
          <p:cNvSpPr/>
          <p:nvPr/>
        </p:nvSpPr>
        <p:spPr>
          <a:xfrm>
            <a:off x="812800" y="5260446"/>
            <a:ext cx="146883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C"/>
                </a:solidFill>
                <a:latin typeface="Plus Jakarta Sans" pitchFamily="34" charset="0"/>
                <a:ea typeface="Plus Jakarta Sans" pitchFamily="34" charset="-122"/>
                <a:cs typeface="Plus Jakarta Sans" pitchFamily="34" charset="-120"/>
              </a:rPr>
              <a:t>Fizaan Ali</a:t>
            </a:r>
            <a:endParaRPr lang="en-US" sz="1600" dirty="0"/>
          </a:p>
        </p:txBody>
      </p:sp>
      <p:sp>
        <p:nvSpPr>
          <p:cNvPr id="7" name="Text 5"/>
          <p:cNvSpPr/>
          <p:nvPr/>
        </p:nvSpPr>
        <p:spPr>
          <a:xfrm>
            <a:off x="812800" y="5582973"/>
            <a:ext cx="1468834"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EC6"/>
                </a:solidFill>
                <a:latin typeface="Plus Jakarta Sans" pitchFamily="34" charset="0"/>
                <a:ea typeface="Plus Jakarta Sans" pitchFamily="34" charset="-122"/>
                <a:cs typeface="Plus Jakarta Sans" pitchFamily="34" charset="-120"/>
              </a:rPr>
              <a:t>Junior Data Analyst</a:t>
            </a:r>
            <a:endParaRPr lang="en-US" sz="1300" dirty="0"/>
          </a:p>
        </p:txBody>
      </p:sp>
      <p:sp>
        <p:nvSpPr>
          <p:cNvPr id="8" name="Text 6"/>
          <p:cNvSpPr/>
          <p:nvPr/>
        </p:nvSpPr>
        <p:spPr>
          <a:xfrm>
            <a:off x="2637234" y="5009026"/>
            <a:ext cx="141737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EC6"/>
                </a:solidFill>
                <a:latin typeface="Plus Jakarta Sans" pitchFamily="34" charset="0"/>
                <a:ea typeface="Plus Jakarta Sans" pitchFamily="34" charset="-122"/>
                <a:cs typeface="Plus Jakarta Sans" pitchFamily="34" charset="-120"/>
              </a:rPr>
              <a:t>Date</a:t>
            </a:r>
            <a:endParaRPr lang="en-US" sz="1200" dirty="0"/>
          </a:p>
        </p:txBody>
      </p:sp>
      <p:sp>
        <p:nvSpPr>
          <p:cNvPr id="9" name="Text 7"/>
          <p:cNvSpPr/>
          <p:nvPr/>
        </p:nvSpPr>
        <p:spPr>
          <a:xfrm>
            <a:off x="2637234" y="5260446"/>
            <a:ext cx="1417373"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C"/>
                </a:solidFill>
                <a:latin typeface="Plus Jakarta Sans" pitchFamily="34" charset="0"/>
                <a:ea typeface="Plus Jakarta Sans" pitchFamily="34" charset="-122"/>
                <a:cs typeface="Plus Jakarta Sans" pitchFamily="34" charset="-120"/>
              </a:rPr>
              <a:t>October 2026</a:t>
            </a:r>
            <a:endParaRPr lang="en-US" sz="1600" dirty="0"/>
          </a:p>
        </p:txBody>
      </p:sp>
      <p:sp>
        <p:nvSpPr>
          <p:cNvPr id="10" name="Text 8"/>
          <p:cNvSpPr/>
          <p:nvPr/>
        </p:nvSpPr>
        <p:spPr>
          <a:xfrm>
            <a:off x="4410208" y="5009026"/>
            <a:ext cx="34892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EC6"/>
                </a:solidFill>
                <a:latin typeface="Plus Jakarta Sans" pitchFamily="34" charset="0"/>
                <a:ea typeface="Plus Jakarta Sans" pitchFamily="34" charset="-122"/>
                <a:cs typeface="Plus Jakarta Sans" pitchFamily="34" charset="-120"/>
              </a:rPr>
              <a:t>Prepared for</a:t>
            </a:r>
            <a:endParaRPr lang="en-US" sz="1200" dirty="0"/>
          </a:p>
        </p:txBody>
      </p:sp>
      <p:sp>
        <p:nvSpPr>
          <p:cNvPr id="11" name="Text 9"/>
          <p:cNvSpPr/>
          <p:nvPr/>
        </p:nvSpPr>
        <p:spPr>
          <a:xfrm>
            <a:off x="4410208" y="5260446"/>
            <a:ext cx="3489221"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C"/>
                </a:solidFill>
                <a:latin typeface="Plus Jakarta Sans" pitchFamily="34" charset="0"/>
                <a:ea typeface="Plus Jakarta Sans" pitchFamily="34" charset="-122"/>
                <a:cs typeface="Plus Jakarta Sans" pitchFamily="34" charset="-120"/>
              </a:rPr>
              <a:t>Lily Moreno and the executive team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OUTLINE</a:t>
            </a:r>
            <a:endParaRPr lang="en-US" sz="1300" dirty="0"/>
          </a:p>
        </p:txBody>
      </p:sp>
      <p:sp>
        <p:nvSpPr>
          <p:cNvPr id="3" name="Text 1"/>
          <p:cNvSpPr>
            <a:spLocks noGrp="1"/>
          </p:cNvSpPr>
          <p:nvPr>
            <p:ph type="title"/>
          </p:nvPr>
        </p:nvSpPr>
        <p:spPr>
          <a:xfrm>
            <a:off x="812800" y="1120114"/>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What we will cover</a:t>
            </a:r>
            <a:endParaRPr lang="en-US" sz="3200" dirty="0"/>
          </a:p>
        </p:txBody>
      </p:sp>
      <p:sp>
        <p:nvSpPr>
          <p:cNvPr id="4" name="Shape 2"/>
          <p:cNvSpPr/>
          <p:nvPr/>
        </p:nvSpPr>
        <p:spPr>
          <a:xfrm>
            <a:off x="815975" y="1844609"/>
            <a:ext cx="5200650" cy="1066337"/>
          </a:xfrm>
          <a:prstGeom prst="roundRect">
            <a:avLst>
              <a:gd name="adj" fmla="val 11612"/>
            </a:avLst>
          </a:prstGeom>
          <a:solidFill>
            <a:srgbClr val="FCFBF7"/>
          </a:solidFill>
          <a:ln w="6350">
            <a:solidFill>
              <a:srgbClr val="DCD8CC"/>
            </a:solidFill>
            <a:prstDash val="solid"/>
          </a:ln>
        </p:spPr>
      </p:sp>
      <p:sp>
        <p:nvSpPr>
          <p:cNvPr id="5" name="Text 3"/>
          <p:cNvSpPr/>
          <p:nvPr/>
        </p:nvSpPr>
        <p:spPr>
          <a:xfrm>
            <a:off x="1071033" y="2128838"/>
            <a:ext cx="622300"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10C"/>
                </a:solidFill>
                <a:latin typeface="Plus Jakarta Sans" pitchFamily="34" charset="0"/>
                <a:ea typeface="Plus Jakarta Sans" pitchFamily="34" charset="-122"/>
                <a:cs typeface="Plus Jakarta Sans" pitchFamily="34" charset="-120"/>
              </a:rPr>
              <a:t>01</a:t>
            </a:r>
            <a:endParaRPr lang="en-US" sz="2800" dirty="0"/>
          </a:p>
        </p:txBody>
      </p:sp>
      <p:sp>
        <p:nvSpPr>
          <p:cNvPr id="6" name="Text 4"/>
          <p:cNvSpPr/>
          <p:nvPr/>
        </p:nvSpPr>
        <p:spPr>
          <a:xfrm>
            <a:off x="1820333" y="2074267"/>
            <a:ext cx="2432794"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14262D"/>
                </a:solidFill>
                <a:latin typeface="Plus Jakarta Sans" pitchFamily="34" charset="0"/>
                <a:ea typeface="Plus Jakarta Sans" pitchFamily="34" charset="-122"/>
                <a:cs typeface="Plus Jakarta Sans" pitchFamily="34" charset="-120"/>
              </a:rPr>
              <a:t>Business task</a:t>
            </a:r>
            <a:endParaRPr lang="en-US" sz="1900" dirty="0"/>
          </a:p>
        </p:txBody>
      </p:sp>
      <p:sp>
        <p:nvSpPr>
          <p:cNvPr id="7" name="Text 5"/>
          <p:cNvSpPr/>
          <p:nvPr/>
        </p:nvSpPr>
        <p:spPr>
          <a:xfrm>
            <a:off x="1820333" y="2450174"/>
            <a:ext cx="283432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The question and who it serves</a:t>
            </a:r>
            <a:endParaRPr lang="en-US" sz="1300" dirty="0"/>
          </a:p>
        </p:txBody>
      </p:sp>
      <p:sp>
        <p:nvSpPr>
          <p:cNvPr id="8" name="Shape 6"/>
          <p:cNvSpPr/>
          <p:nvPr/>
        </p:nvSpPr>
        <p:spPr>
          <a:xfrm>
            <a:off x="6175375" y="1844609"/>
            <a:ext cx="5200650" cy="1066337"/>
          </a:xfrm>
          <a:prstGeom prst="roundRect">
            <a:avLst>
              <a:gd name="adj" fmla="val 11612"/>
            </a:avLst>
          </a:prstGeom>
          <a:solidFill>
            <a:srgbClr val="FCFBF7"/>
          </a:solidFill>
          <a:ln w="6350">
            <a:solidFill>
              <a:srgbClr val="DCD8CC"/>
            </a:solidFill>
            <a:prstDash val="solid"/>
          </a:ln>
        </p:spPr>
      </p:sp>
      <p:sp>
        <p:nvSpPr>
          <p:cNvPr id="9" name="Text 7"/>
          <p:cNvSpPr/>
          <p:nvPr/>
        </p:nvSpPr>
        <p:spPr>
          <a:xfrm>
            <a:off x="6430433" y="2128838"/>
            <a:ext cx="622300"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10C"/>
                </a:solidFill>
                <a:latin typeface="Plus Jakarta Sans" pitchFamily="34" charset="0"/>
                <a:ea typeface="Plus Jakarta Sans" pitchFamily="34" charset="-122"/>
                <a:cs typeface="Plus Jakarta Sans" pitchFamily="34" charset="-120"/>
              </a:rPr>
              <a:t>02</a:t>
            </a:r>
            <a:endParaRPr lang="en-US" sz="2800" dirty="0"/>
          </a:p>
        </p:txBody>
      </p:sp>
      <p:sp>
        <p:nvSpPr>
          <p:cNvPr id="10" name="Text 8"/>
          <p:cNvSpPr/>
          <p:nvPr/>
        </p:nvSpPr>
        <p:spPr>
          <a:xfrm>
            <a:off x="7179734" y="2074267"/>
            <a:ext cx="2974633"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14262D"/>
                </a:solidFill>
                <a:latin typeface="Plus Jakarta Sans" pitchFamily="34" charset="0"/>
                <a:ea typeface="Plus Jakarta Sans" pitchFamily="34" charset="-122"/>
                <a:cs typeface="Plus Jakarta Sans" pitchFamily="34" charset="-120"/>
              </a:rPr>
              <a:t>Analysis</a:t>
            </a:r>
            <a:endParaRPr lang="en-US" sz="1900" dirty="0"/>
          </a:p>
        </p:txBody>
      </p:sp>
      <p:sp>
        <p:nvSpPr>
          <p:cNvPr id="11" name="Text 9"/>
          <p:cNvSpPr/>
          <p:nvPr/>
        </p:nvSpPr>
        <p:spPr>
          <a:xfrm>
            <a:off x="7179734" y="2450174"/>
            <a:ext cx="34655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Data sources, cleaning and approach</a:t>
            </a:r>
            <a:endParaRPr lang="en-US" sz="1300" dirty="0"/>
          </a:p>
        </p:txBody>
      </p:sp>
      <p:sp>
        <p:nvSpPr>
          <p:cNvPr id="12" name="Shape 10"/>
          <p:cNvSpPr/>
          <p:nvPr/>
        </p:nvSpPr>
        <p:spPr>
          <a:xfrm>
            <a:off x="815975" y="3069696"/>
            <a:ext cx="5200650" cy="1066337"/>
          </a:xfrm>
          <a:prstGeom prst="roundRect">
            <a:avLst>
              <a:gd name="adj" fmla="val 11612"/>
            </a:avLst>
          </a:prstGeom>
          <a:solidFill>
            <a:srgbClr val="FCFBF7"/>
          </a:solidFill>
          <a:ln w="6350">
            <a:solidFill>
              <a:srgbClr val="DCD8CC"/>
            </a:solidFill>
            <a:prstDash val="solid"/>
          </a:ln>
        </p:spPr>
      </p:sp>
      <p:sp>
        <p:nvSpPr>
          <p:cNvPr id="13" name="Text 11"/>
          <p:cNvSpPr/>
          <p:nvPr/>
        </p:nvSpPr>
        <p:spPr>
          <a:xfrm>
            <a:off x="1071033" y="3353925"/>
            <a:ext cx="622300"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10C"/>
                </a:solidFill>
                <a:latin typeface="Plus Jakarta Sans" pitchFamily="34" charset="0"/>
                <a:ea typeface="Plus Jakarta Sans" pitchFamily="34" charset="-122"/>
                <a:cs typeface="Plus Jakarta Sans" pitchFamily="34" charset="-120"/>
              </a:rPr>
              <a:t>03</a:t>
            </a:r>
            <a:endParaRPr lang="en-US" sz="2800" dirty="0"/>
          </a:p>
        </p:txBody>
      </p:sp>
      <p:sp>
        <p:nvSpPr>
          <p:cNvPr id="14" name="Text 12"/>
          <p:cNvSpPr/>
          <p:nvPr/>
        </p:nvSpPr>
        <p:spPr>
          <a:xfrm>
            <a:off x="1820333" y="3299354"/>
            <a:ext cx="3016124"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14262D"/>
                </a:solidFill>
                <a:latin typeface="Plus Jakarta Sans" pitchFamily="34" charset="0"/>
                <a:ea typeface="Plus Jakarta Sans" pitchFamily="34" charset="-122"/>
                <a:cs typeface="Plus Jakarta Sans" pitchFamily="34" charset="-120"/>
              </a:rPr>
              <a:t>Problem</a:t>
            </a:r>
            <a:endParaRPr lang="en-US" sz="1900" dirty="0"/>
          </a:p>
        </p:txBody>
      </p:sp>
      <p:sp>
        <p:nvSpPr>
          <p:cNvPr id="15" name="Text 13"/>
          <p:cNvSpPr/>
          <p:nvPr/>
        </p:nvSpPr>
        <p:spPr>
          <a:xfrm>
            <a:off x="1820333" y="3675261"/>
            <a:ext cx="351393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How members and casual riders differ</a:t>
            </a:r>
            <a:endParaRPr lang="en-US" sz="1300" dirty="0"/>
          </a:p>
        </p:txBody>
      </p:sp>
      <p:sp>
        <p:nvSpPr>
          <p:cNvPr id="16" name="Shape 14"/>
          <p:cNvSpPr/>
          <p:nvPr/>
        </p:nvSpPr>
        <p:spPr>
          <a:xfrm>
            <a:off x="6175375" y="3069696"/>
            <a:ext cx="5200650" cy="1066337"/>
          </a:xfrm>
          <a:prstGeom prst="roundRect">
            <a:avLst>
              <a:gd name="adj" fmla="val 11612"/>
            </a:avLst>
          </a:prstGeom>
          <a:solidFill>
            <a:srgbClr val="FCFBF7"/>
          </a:solidFill>
          <a:ln w="6350">
            <a:solidFill>
              <a:srgbClr val="DCD8CC"/>
            </a:solidFill>
            <a:prstDash val="solid"/>
          </a:ln>
        </p:spPr>
      </p:sp>
      <p:sp>
        <p:nvSpPr>
          <p:cNvPr id="17" name="Text 15"/>
          <p:cNvSpPr/>
          <p:nvPr/>
        </p:nvSpPr>
        <p:spPr>
          <a:xfrm>
            <a:off x="6430433" y="3353925"/>
            <a:ext cx="622300"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10C"/>
                </a:solidFill>
                <a:latin typeface="Plus Jakarta Sans" pitchFamily="34" charset="0"/>
                <a:ea typeface="Plus Jakarta Sans" pitchFamily="34" charset="-122"/>
                <a:cs typeface="Plus Jakarta Sans" pitchFamily="34" charset="-120"/>
              </a:rPr>
              <a:t>04</a:t>
            </a:r>
            <a:endParaRPr lang="en-US" sz="2800" dirty="0"/>
          </a:p>
        </p:txBody>
      </p:sp>
      <p:sp>
        <p:nvSpPr>
          <p:cNvPr id="18" name="Text 16"/>
          <p:cNvSpPr/>
          <p:nvPr/>
        </p:nvSpPr>
        <p:spPr>
          <a:xfrm>
            <a:off x="7179734" y="3299354"/>
            <a:ext cx="3124724"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14262D"/>
                </a:solidFill>
                <a:latin typeface="Plus Jakarta Sans" pitchFamily="34" charset="0"/>
                <a:ea typeface="Plus Jakarta Sans" pitchFamily="34" charset="-122"/>
                <a:cs typeface="Plus Jakarta Sans" pitchFamily="34" charset="-120"/>
              </a:rPr>
              <a:t>Aha moment</a:t>
            </a:r>
            <a:endParaRPr lang="en-US" sz="1900" dirty="0"/>
          </a:p>
        </p:txBody>
      </p:sp>
      <p:sp>
        <p:nvSpPr>
          <p:cNvPr id="19" name="Text 17"/>
          <p:cNvSpPr/>
          <p:nvPr/>
        </p:nvSpPr>
        <p:spPr>
          <a:xfrm>
            <a:off x="7179734" y="3675261"/>
            <a:ext cx="364045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Casual riders carry over half of ride time</a:t>
            </a:r>
            <a:endParaRPr lang="en-US" sz="1300" dirty="0"/>
          </a:p>
        </p:txBody>
      </p:sp>
      <p:sp>
        <p:nvSpPr>
          <p:cNvPr id="20" name="Shape 18"/>
          <p:cNvSpPr/>
          <p:nvPr/>
        </p:nvSpPr>
        <p:spPr>
          <a:xfrm>
            <a:off x="815975" y="4294783"/>
            <a:ext cx="5200650" cy="1066337"/>
          </a:xfrm>
          <a:prstGeom prst="roundRect">
            <a:avLst>
              <a:gd name="adj" fmla="val 11612"/>
            </a:avLst>
          </a:prstGeom>
          <a:solidFill>
            <a:srgbClr val="FCFBF7"/>
          </a:solidFill>
          <a:ln w="6350">
            <a:solidFill>
              <a:srgbClr val="DCD8CC"/>
            </a:solidFill>
            <a:prstDash val="solid"/>
          </a:ln>
        </p:spPr>
      </p:sp>
      <p:sp>
        <p:nvSpPr>
          <p:cNvPr id="21" name="Text 19"/>
          <p:cNvSpPr/>
          <p:nvPr/>
        </p:nvSpPr>
        <p:spPr>
          <a:xfrm>
            <a:off x="1071033" y="4579012"/>
            <a:ext cx="622300"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10C"/>
                </a:solidFill>
                <a:latin typeface="Plus Jakarta Sans" pitchFamily="34" charset="0"/>
                <a:ea typeface="Plus Jakarta Sans" pitchFamily="34" charset="-122"/>
                <a:cs typeface="Plus Jakarta Sans" pitchFamily="34" charset="-120"/>
              </a:rPr>
              <a:t>05</a:t>
            </a:r>
            <a:endParaRPr lang="en-US" sz="2800" dirty="0"/>
          </a:p>
        </p:txBody>
      </p:sp>
      <p:sp>
        <p:nvSpPr>
          <p:cNvPr id="22" name="Text 20"/>
          <p:cNvSpPr/>
          <p:nvPr/>
        </p:nvSpPr>
        <p:spPr>
          <a:xfrm>
            <a:off x="1820333" y="4524442"/>
            <a:ext cx="3161174"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14262D"/>
                </a:solidFill>
                <a:latin typeface="Plus Jakarta Sans" pitchFamily="34" charset="0"/>
                <a:ea typeface="Plus Jakarta Sans" pitchFamily="34" charset="-122"/>
                <a:cs typeface="Plus Jakarta Sans" pitchFamily="34" charset="-120"/>
              </a:rPr>
              <a:t>Conclusion</a:t>
            </a:r>
            <a:endParaRPr lang="en-US" sz="1900" dirty="0"/>
          </a:p>
        </p:txBody>
      </p:sp>
      <p:sp>
        <p:nvSpPr>
          <p:cNvPr id="23" name="Text 21"/>
          <p:cNvSpPr/>
          <p:nvPr/>
        </p:nvSpPr>
        <p:spPr>
          <a:xfrm>
            <a:off x="1820333" y="4900348"/>
            <a:ext cx="368292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Findings, recommendations, next steps</a:t>
            </a:r>
            <a:endParaRPr lang="en-US" sz="1300" dirty="0"/>
          </a:p>
        </p:txBody>
      </p:sp>
      <p:sp>
        <p:nvSpPr>
          <p:cNvPr id="24" name="Shape 22"/>
          <p:cNvSpPr/>
          <p:nvPr/>
        </p:nvSpPr>
        <p:spPr>
          <a:xfrm>
            <a:off x="6175375" y="4294783"/>
            <a:ext cx="5200650" cy="1066337"/>
          </a:xfrm>
          <a:prstGeom prst="roundRect">
            <a:avLst>
              <a:gd name="adj" fmla="val 11612"/>
            </a:avLst>
          </a:prstGeom>
          <a:solidFill>
            <a:srgbClr val="FCFBF7"/>
          </a:solidFill>
          <a:ln w="6350">
            <a:solidFill>
              <a:srgbClr val="DCD8CC"/>
            </a:solidFill>
            <a:prstDash val="solid"/>
          </a:ln>
        </p:spPr>
      </p:sp>
      <p:sp>
        <p:nvSpPr>
          <p:cNvPr id="25" name="Text 23"/>
          <p:cNvSpPr/>
          <p:nvPr/>
        </p:nvSpPr>
        <p:spPr>
          <a:xfrm>
            <a:off x="6430433" y="4579012"/>
            <a:ext cx="622300"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4510C"/>
                </a:solidFill>
                <a:latin typeface="Plus Jakarta Sans" pitchFamily="34" charset="0"/>
                <a:ea typeface="Plus Jakarta Sans" pitchFamily="34" charset="-122"/>
                <a:cs typeface="Plus Jakarta Sans" pitchFamily="34" charset="-120"/>
              </a:rPr>
              <a:t>06</a:t>
            </a:r>
            <a:endParaRPr lang="en-US" sz="2800" dirty="0"/>
          </a:p>
        </p:txBody>
      </p:sp>
      <p:sp>
        <p:nvSpPr>
          <p:cNvPr id="26" name="Text 24"/>
          <p:cNvSpPr/>
          <p:nvPr/>
        </p:nvSpPr>
        <p:spPr>
          <a:xfrm>
            <a:off x="7179734" y="4524442"/>
            <a:ext cx="2995004" cy="363207"/>
          </a:xfrm>
          <a:prstGeom prst="rect">
            <a:avLst/>
          </a:prstGeom>
          <a:noFill/>
          <a:ln/>
        </p:spPr>
        <p:txBody>
          <a:bodyPr wrap="square" lIns="0" tIns="0" rIns="0" bIns="0" rtlCol="0" anchor="t">
            <a:normAutofit/>
          </a:bodyPr>
          <a:lstStyle/>
          <a:p>
            <a:pPr marL="0" indent="0" algn="l">
              <a:lnSpc>
                <a:spcPts val="2660"/>
              </a:lnSpc>
              <a:buNone/>
            </a:pPr>
            <a:r>
              <a:rPr lang="en-US" sz="1900" b="1" dirty="0">
                <a:solidFill>
                  <a:srgbClr val="14262D"/>
                </a:solidFill>
                <a:latin typeface="Plus Jakarta Sans" pitchFamily="34" charset="0"/>
                <a:ea typeface="Plus Jakarta Sans" pitchFamily="34" charset="-122"/>
                <a:cs typeface="Plus Jakarta Sans" pitchFamily="34" charset="-120"/>
              </a:rPr>
              <a:t>Appendix</a:t>
            </a:r>
            <a:endParaRPr lang="en-US" sz="1900" dirty="0"/>
          </a:p>
        </p:txBody>
      </p:sp>
      <p:sp>
        <p:nvSpPr>
          <p:cNvPr id="27" name="Text 25"/>
          <p:cNvSpPr/>
          <p:nvPr/>
        </p:nvSpPr>
        <p:spPr>
          <a:xfrm>
            <a:off x="7179734" y="4900348"/>
            <a:ext cx="348932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Data dictionary, tables and limitations</a:t>
            </a:r>
            <a:endParaRPr lang="en-US" sz="1300" dirty="0"/>
          </a:p>
        </p:txBody>
      </p:sp>
      <p:sp>
        <p:nvSpPr>
          <p:cNvPr id="28" name="Text 26"/>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29" name="Text 27"/>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A34"/>
        </a:solidFill>
        <a:effectLst/>
      </p:bgPr>
    </p:bg>
    <p:spTree>
      <p:nvGrpSpPr>
        <p:cNvPr id="1" name=""/>
        <p:cNvGrpSpPr/>
        <p:nvPr/>
      </p:nvGrpSpPr>
      <p:grpSpPr>
        <a:xfrm>
          <a:off x="0" y="0"/>
          <a:ext cx="0" cy="0"/>
          <a:chOff x="0" y="0"/>
          <a:chExt cx="0" cy="0"/>
        </a:xfrm>
      </p:grpSpPr>
      <p:sp>
        <p:nvSpPr>
          <p:cNvPr id="2" name="Text 0"/>
          <p:cNvSpPr/>
          <p:nvPr/>
        </p:nvSpPr>
        <p:spPr>
          <a:xfrm>
            <a:off x="812800" y="14795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A9BEC6"/>
                </a:solidFill>
                <a:latin typeface="Plus Jakarta Sans" pitchFamily="34" charset="0"/>
                <a:ea typeface="Plus Jakarta Sans" pitchFamily="34" charset="-122"/>
                <a:cs typeface="Plus Jakarta Sans" pitchFamily="34" charset="-120"/>
              </a:rPr>
              <a:t>SECTION</a:t>
            </a:r>
            <a:endParaRPr lang="en-US" sz="1500" dirty="0"/>
          </a:p>
        </p:txBody>
      </p:sp>
      <p:sp>
        <p:nvSpPr>
          <p:cNvPr id="3" name="Text 1"/>
          <p:cNvSpPr/>
          <p:nvPr/>
        </p:nvSpPr>
        <p:spPr>
          <a:xfrm>
            <a:off x="812800" y="1873250"/>
            <a:ext cx="10883392" cy="1930400"/>
          </a:xfrm>
          <a:prstGeom prst="rect">
            <a:avLst/>
          </a:prstGeom>
          <a:noFill/>
          <a:ln/>
        </p:spPr>
        <p:txBody>
          <a:bodyPr wrap="square" lIns="0" tIns="0" rIns="0" bIns="0" rtlCol="0" anchor="t">
            <a:normAutofit/>
          </a:bodyPr>
          <a:lstStyle/>
          <a:p>
            <a:pPr marL="0" indent="0" algn="l">
              <a:lnSpc>
                <a:spcPts val="15000"/>
              </a:lnSpc>
              <a:buNone/>
            </a:pPr>
            <a:r>
              <a:rPr lang="en-US" sz="15000" b="1" dirty="0">
                <a:solidFill>
                  <a:srgbClr val="F29A55"/>
                </a:solidFill>
                <a:latin typeface="Plus Jakarta Sans" pitchFamily="34" charset="0"/>
                <a:ea typeface="Plus Jakarta Sans" pitchFamily="34" charset="-122"/>
                <a:cs typeface="Plus Jakarta Sans" pitchFamily="34" charset="-120"/>
              </a:rPr>
              <a:t>01</a:t>
            </a:r>
            <a:endParaRPr lang="en-US" sz="15000" dirty="0"/>
          </a:p>
        </p:txBody>
      </p:sp>
      <p:sp>
        <p:nvSpPr>
          <p:cNvPr id="4" name="Text 2"/>
          <p:cNvSpPr>
            <a:spLocks noGrp="1"/>
          </p:cNvSpPr>
          <p:nvPr>
            <p:ph type="title"/>
          </p:nvPr>
        </p:nvSpPr>
        <p:spPr>
          <a:xfrm>
            <a:off x="812800" y="3905250"/>
            <a:ext cx="6540500"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3EC"/>
                </a:solidFill>
                <a:latin typeface="Plus Jakarta Sans" pitchFamily="34" charset="0"/>
                <a:ea typeface="Plus Jakarta Sans" pitchFamily="34" charset="-122"/>
                <a:cs typeface="Plus Jakarta Sans" pitchFamily="34" charset="-120"/>
              </a:rPr>
              <a:t>Business task</a:t>
            </a:r>
            <a:endParaRPr lang="en-US" sz="4800" dirty="0"/>
          </a:p>
        </p:txBody>
      </p:sp>
      <p:sp>
        <p:nvSpPr>
          <p:cNvPr id="5" name="Text 3"/>
          <p:cNvSpPr/>
          <p:nvPr/>
        </p:nvSpPr>
        <p:spPr>
          <a:xfrm>
            <a:off x="812800" y="4702770"/>
            <a:ext cx="6540500" cy="701014"/>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A9BEC6"/>
                </a:solidFill>
                <a:latin typeface="Plus Jakarta Sans" pitchFamily="34" charset="0"/>
                <a:ea typeface="Plus Jakarta Sans" pitchFamily="34" charset="-122"/>
                <a:cs typeface="Plus Jakarta Sans" pitchFamily="34" charset="-120"/>
              </a:rPr>
              <a:t>What we were asked to find out, and who needs the answer.</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BUSINESS TASK</a:t>
            </a:r>
            <a:endParaRPr lang="en-US" sz="1300" dirty="0"/>
          </a:p>
        </p:txBody>
      </p:sp>
      <p:sp>
        <p:nvSpPr>
          <p:cNvPr id="3" name="Text 1"/>
          <p:cNvSpPr>
            <a:spLocks noGrp="1"/>
          </p:cNvSpPr>
          <p:nvPr>
            <p:ph type="title"/>
          </p:nvPr>
        </p:nvSpPr>
        <p:spPr>
          <a:xfrm>
            <a:off x="812800" y="1120115"/>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The task in one sentence</a:t>
            </a:r>
            <a:endParaRPr lang="en-US" sz="3200" dirty="0"/>
          </a:p>
        </p:txBody>
      </p:sp>
      <p:sp>
        <p:nvSpPr>
          <p:cNvPr id="4" name="Text 2"/>
          <p:cNvSpPr/>
          <p:nvPr/>
        </p:nvSpPr>
        <p:spPr>
          <a:xfrm>
            <a:off x="812800" y="1841435"/>
            <a:ext cx="10566400" cy="1741091"/>
          </a:xfrm>
          <a:prstGeom prst="roundRect">
            <a:avLst>
              <a:gd name="adj" fmla="val 8753"/>
            </a:avLst>
          </a:prstGeom>
          <a:solidFill>
            <a:srgbClr val="0E2A34"/>
          </a:solidFill>
          <a:ln/>
        </p:spPr>
        <p:txBody>
          <a:bodyPr wrap="square" lIns="310964" tIns="260164" rIns="15308" bIns="234764" rtlCol="0" anchor="t">
            <a:normAutofit/>
          </a:bodyPr>
          <a:lstStyle/>
          <a:p>
            <a:pPr marL="0" indent="0" algn="l">
              <a:lnSpc>
                <a:spcPts val="2970"/>
              </a:lnSpc>
              <a:buNone/>
            </a:pPr>
            <a:r>
              <a:rPr lang="en-US" sz="2200" b="1" dirty="0">
                <a:solidFill>
                  <a:srgbClr val="F5F3EC"/>
                </a:solidFill>
                <a:latin typeface="Plus Jakarta Sans" pitchFamily="34" charset="0"/>
                <a:ea typeface="Plus Jakarta Sans" pitchFamily="34" charset="-122"/>
                <a:cs typeface="Plus Jakarta Sans" pitchFamily="34" charset="-120"/>
              </a:rPr>
              <a:t>Analyse how casual riders and annual members use Cyclistic bikes differently, so marketing can design strategies that convert casual riders into annual members.</a:t>
            </a:r>
            <a:endParaRPr lang="en-US" sz="2200" dirty="0"/>
          </a:p>
        </p:txBody>
      </p:sp>
      <p:sp>
        <p:nvSpPr>
          <p:cNvPr id="5" name="Shape 3"/>
          <p:cNvSpPr/>
          <p:nvPr/>
        </p:nvSpPr>
        <p:spPr>
          <a:xfrm>
            <a:off x="815975" y="3839701"/>
            <a:ext cx="5200650" cy="1602118"/>
          </a:xfrm>
          <a:prstGeom prst="roundRect">
            <a:avLst>
              <a:gd name="adj" fmla="val 7729"/>
            </a:avLst>
          </a:prstGeom>
          <a:solidFill>
            <a:srgbClr val="FCFBF7"/>
          </a:solidFill>
          <a:ln w="6350">
            <a:solidFill>
              <a:srgbClr val="DCD8CC"/>
            </a:solidFill>
            <a:prstDash val="solid"/>
          </a:ln>
        </p:spPr>
      </p:sp>
      <p:sp>
        <p:nvSpPr>
          <p:cNvPr id="6" name="Text 4"/>
          <p:cNvSpPr/>
          <p:nvPr/>
        </p:nvSpPr>
        <p:spPr>
          <a:xfrm>
            <a:off x="1045633" y="4069358"/>
            <a:ext cx="488357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10C"/>
                </a:solidFill>
                <a:latin typeface="Plus Jakarta Sans" pitchFamily="34" charset="0"/>
                <a:ea typeface="Plus Jakarta Sans" pitchFamily="34" charset="-122"/>
                <a:cs typeface="Plus Jakarta Sans" pitchFamily="34" charset="-120"/>
              </a:rPr>
              <a:t>GUIDING QUESTION</a:t>
            </a:r>
            <a:endParaRPr lang="en-US" sz="1200" dirty="0"/>
          </a:p>
        </p:txBody>
      </p:sp>
      <p:sp>
        <p:nvSpPr>
          <p:cNvPr id="7" name="Text 5"/>
          <p:cNvSpPr/>
          <p:nvPr/>
        </p:nvSpPr>
        <p:spPr>
          <a:xfrm>
            <a:off x="1045633" y="4358878"/>
            <a:ext cx="4883573"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62D"/>
                </a:solidFill>
                <a:latin typeface="Plus Jakarta Sans" pitchFamily="34" charset="0"/>
                <a:ea typeface="Plus Jakarta Sans" pitchFamily="34" charset="-122"/>
                <a:cs typeface="Plus Jakarta Sans" pitchFamily="34" charset="-120"/>
              </a:rPr>
              <a:t>How do annual members and casual riders use Cyclistic bikes differently?</a:t>
            </a:r>
            <a:endParaRPr lang="en-US" sz="1600" dirty="0"/>
          </a:p>
        </p:txBody>
      </p:sp>
      <p:sp>
        <p:nvSpPr>
          <p:cNvPr id="8" name="Shape 6"/>
          <p:cNvSpPr/>
          <p:nvPr/>
        </p:nvSpPr>
        <p:spPr>
          <a:xfrm>
            <a:off x="6175375" y="3839701"/>
            <a:ext cx="5200650" cy="1602118"/>
          </a:xfrm>
          <a:prstGeom prst="roundRect">
            <a:avLst>
              <a:gd name="adj" fmla="val 7729"/>
            </a:avLst>
          </a:prstGeom>
          <a:solidFill>
            <a:srgbClr val="FCFBF7"/>
          </a:solidFill>
          <a:ln w="6350">
            <a:solidFill>
              <a:srgbClr val="DCD8CC"/>
            </a:solidFill>
            <a:prstDash val="solid"/>
          </a:ln>
        </p:spPr>
      </p:sp>
      <p:sp>
        <p:nvSpPr>
          <p:cNvPr id="9" name="Text 7"/>
          <p:cNvSpPr/>
          <p:nvPr/>
        </p:nvSpPr>
        <p:spPr>
          <a:xfrm>
            <a:off x="6405033" y="4069358"/>
            <a:ext cx="488357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10C"/>
                </a:solidFill>
                <a:latin typeface="Plus Jakarta Sans" pitchFamily="34" charset="0"/>
                <a:ea typeface="Plus Jakarta Sans" pitchFamily="34" charset="-122"/>
                <a:cs typeface="Plus Jakarta Sans" pitchFamily="34" charset="-120"/>
              </a:rPr>
              <a:t>WHY IT MATTERS</a:t>
            </a:r>
            <a:endParaRPr lang="en-US" sz="1200" dirty="0"/>
          </a:p>
        </p:txBody>
      </p:sp>
      <p:sp>
        <p:nvSpPr>
          <p:cNvPr id="10" name="Text 8"/>
          <p:cNvSpPr/>
          <p:nvPr/>
        </p:nvSpPr>
        <p:spPr>
          <a:xfrm>
            <a:off x="6405033" y="4358878"/>
            <a:ext cx="4883573"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62D"/>
                </a:solidFill>
                <a:latin typeface="Plus Jakarta Sans" pitchFamily="34" charset="0"/>
                <a:ea typeface="Plus Jakarta Sans" pitchFamily="34" charset="-122"/>
                <a:cs typeface="Plus Jakarta Sans" pitchFamily="34" charset="-120"/>
              </a:rPr>
              <a:t>Finance found annual members much more profitable. Marketing believes growth depends on adding members.</a:t>
            </a:r>
            <a:endParaRPr lang="en-US" sz="16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BUSINESS TASK</a:t>
            </a:r>
            <a:endParaRPr lang="en-US" sz="1300" dirty="0"/>
          </a:p>
        </p:txBody>
      </p:sp>
      <p:sp>
        <p:nvSpPr>
          <p:cNvPr id="3" name="Text 1"/>
          <p:cNvSpPr>
            <a:spLocks noGrp="1"/>
          </p:cNvSpPr>
          <p:nvPr>
            <p:ph type="title"/>
          </p:nvPr>
        </p:nvSpPr>
        <p:spPr>
          <a:xfrm>
            <a:off x="812800" y="1120115"/>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Key stakeholders</a:t>
            </a:r>
            <a:endParaRPr lang="en-US" sz="3200" dirty="0"/>
          </a:p>
        </p:txBody>
      </p:sp>
      <p:sp>
        <p:nvSpPr>
          <p:cNvPr id="4" name="Shape 2"/>
          <p:cNvSpPr/>
          <p:nvPr/>
        </p:nvSpPr>
        <p:spPr>
          <a:xfrm>
            <a:off x="815975" y="1844610"/>
            <a:ext cx="3380317" cy="2587757"/>
          </a:xfrm>
          <a:prstGeom prst="roundRect">
            <a:avLst>
              <a:gd name="adj" fmla="val 4785"/>
            </a:avLst>
          </a:prstGeom>
          <a:solidFill>
            <a:srgbClr val="FCFBF7"/>
          </a:solidFill>
          <a:ln w="6350">
            <a:solidFill>
              <a:srgbClr val="DCD8CC"/>
            </a:solidFill>
            <a:prstDash val="solid"/>
          </a:ln>
        </p:spPr>
      </p:sp>
      <p:pic>
        <p:nvPicPr>
          <p:cNvPr id="5" name="Image 0" descr="Users"/>
          <p:cNvPicPr>
            <a:picLocks noChangeAspect="1"/>
          </p:cNvPicPr>
          <p:nvPr/>
        </p:nvPicPr>
        <p:blipFill>
          <a:blip r:embed="rId3"/>
          <a:srcRect/>
          <a:stretch/>
        </p:blipFill>
        <p:spPr>
          <a:xfrm>
            <a:off x="1071033" y="2099667"/>
            <a:ext cx="355600" cy="355600"/>
          </a:xfrm>
          <a:prstGeom prst="rect">
            <a:avLst/>
          </a:prstGeom>
        </p:spPr>
      </p:pic>
      <p:sp>
        <p:nvSpPr>
          <p:cNvPr id="6" name="Text 3"/>
          <p:cNvSpPr/>
          <p:nvPr/>
        </p:nvSpPr>
        <p:spPr>
          <a:xfrm>
            <a:off x="1071033" y="254416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62D"/>
                </a:solidFill>
                <a:latin typeface="Plus Jakarta Sans" pitchFamily="34" charset="0"/>
                <a:ea typeface="Plus Jakarta Sans" pitchFamily="34" charset="-122"/>
                <a:cs typeface="Plus Jakarta Sans" pitchFamily="34" charset="-120"/>
              </a:rPr>
              <a:t>Lily Moreno</a:t>
            </a:r>
            <a:endParaRPr lang="en-US" sz="1800" dirty="0"/>
          </a:p>
        </p:txBody>
      </p:sp>
      <p:sp>
        <p:nvSpPr>
          <p:cNvPr id="7" name="Text 4"/>
          <p:cNvSpPr/>
          <p:nvPr/>
        </p:nvSpPr>
        <p:spPr>
          <a:xfrm>
            <a:off x="1071033" y="2907376"/>
            <a:ext cx="295630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Director of Marketing</a:t>
            </a:r>
            <a:endParaRPr lang="en-US" sz="1300" dirty="0"/>
          </a:p>
        </p:txBody>
      </p:sp>
      <p:pic>
        <p:nvPicPr>
          <p:cNvPr id="8" name="Image 1" descr="line"/>
          <p:cNvPicPr>
            <a:picLocks noChangeAspect="1"/>
          </p:cNvPicPr>
          <p:nvPr/>
        </p:nvPicPr>
        <p:blipFill>
          <a:blip r:embed="rId4"/>
          <a:srcRect/>
          <a:stretch/>
        </p:blipFill>
        <p:spPr>
          <a:xfrm>
            <a:off x="1071033" y="3227388"/>
            <a:ext cx="2870200" cy="25400"/>
          </a:xfrm>
          <a:prstGeom prst="rect">
            <a:avLst/>
          </a:prstGeom>
        </p:spPr>
      </p:pic>
      <p:sp>
        <p:nvSpPr>
          <p:cNvPr id="9" name="Text 5"/>
          <p:cNvSpPr/>
          <p:nvPr/>
        </p:nvSpPr>
        <p:spPr>
          <a:xfrm>
            <a:off x="1071033" y="3341688"/>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10C"/>
                </a:solidFill>
                <a:latin typeface="Plus Jakarta Sans" pitchFamily="34" charset="0"/>
                <a:ea typeface="Plus Jakarta Sans" pitchFamily="34" charset="-122"/>
                <a:cs typeface="Plus Jakarta Sans" pitchFamily="34" charset="-120"/>
              </a:rPr>
              <a:t>WHAT THEY NEED</a:t>
            </a:r>
            <a:endParaRPr lang="en-US" sz="1200" dirty="0"/>
          </a:p>
        </p:txBody>
      </p:sp>
      <p:sp>
        <p:nvSpPr>
          <p:cNvPr id="10" name="Text 6"/>
          <p:cNvSpPr/>
          <p:nvPr/>
        </p:nvSpPr>
        <p:spPr>
          <a:xfrm>
            <a:off x="1071033" y="3643908"/>
            <a:ext cx="295630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62D"/>
                </a:solidFill>
                <a:latin typeface="Plus Jakarta Sans" pitchFamily="34" charset="0"/>
                <a:ea typeface="Plus Jakarta Sans" pitchFamily="34" charset="-122"/>
                <a:cs typeface="Plus Jakarta Sans" pitchFamily="34" charset="-120"/>
              </a:rPr>
              <a:t>Clear behaviour differences to build campaigns on.</a:t>
            </a:r>
            <a:endParaRPr lang="en-US" sz="1500" dirty="0"/>
          </a:p>
        </p:txBody>
      </p:sp>
      <p:sp>
        <p:nvSpPr>
          <p:cNvPr id="11" name="Shape 7"/>
          <p:cNvSpPr/>
          <p:nvPr/>
        </p:nvSpPr>
        <p:spPr>
          <a:xfrm>
            <a:off x="4405842" y="1844610"/>
            <a:ext cx="3380317" cy="2587757"/>
          </a:xfrm>
          <a:prstGeom prst="roundRect">
            <a:avLst>
              <a:gd name="adj" fmla="val 4785"/>
            </a:avLst>
          </a:prstGeom>
          <a:solidFill>
            <a:srgbClr val="FCFBF7"/>
          </a:solidFill>
          <a:ln w="6350">
            <a:solidFill>
              <a:srgbClr val="DCD8CC"/>
            </a:solidFill>
            <a:prstDash val="solid"/>
          </a:ln>
        </p:spPr>
      </p:sp>
      <p:pic>
        <p:nvPicPr>
          <p:cNvPr id="12" name="Image 2" descr="Chart"/>
          <p:cNvPicPr>
            <a:picLocks noChangeAspect="1"/>
          </p:cNvPicPr>
          <p:nvPr/>
        </p:nvPicPr>
        <p:blipFill>
          <a:blip r:embed="rId5"/>
          <a:srcRect/>
          <a:stretch/>
        </p:blipFill>
        <p:spPr>
          <a:xfrm>
            <a:off x="4660900" y="2099667"/>
            <a:ext cx="355600" cy="355600"/>
          </a:xfrm>
          <a:prstGeom prst="rect">
            <a:avLst/>
          </a:prstGeom>
        </p:spPr>
      </p:pic>
      <p:sp>
        <p:nvSpPr>
          <p:cNvPr id="13" name="Text 8"/>
          <p:cNvSpPr/>
          <p:nvPr/>
        </p:nvSpPr>
        <p:spPr>
          <a:xfrm>
            <a:off x="4660900" y="254416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62D"/>
                </a:solidFill>
                <a:latin typeface="Plus Jakarta Sans" pitchFamily="34" charset="0"/>
                <a:ea typeface="Plus Jakarta Sans" pitchFamily="34" charset="-122"/>
                <a:cs typeface="Plus Jakarta Sans" pitchFamily="34" charset="-120"/>
              </a:rPr>
              <a:t>Analytics team</a:t>
            </a:r>
            <a:endParaRPr lang="en-US" sz="1800" dirty="0"/>
          </a:p>
        </p:txBody>
      </p:sp>
      <p:sp>
        <p:nvSpPr>
          <p:cNvPr id="14" name="Text 9"/>
          <p:cNvSpPr/>
          <p:nvPr/>
        </p:nvSpPr>
        <p:spPr>
          <a:xfrm>
            <a:off x="4660900" y="2907376"/>
            <a:ext cx="295630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Marketing analysts</a:t>
            </a:r>
            <a:endParaRPr lang="en-US" sz="1300" dirty="0"/>
          </a:p>
        </p:txBody>
      </p:sp>
      <p:pic>
        <p:nvPicPr>
          <p:cNvPr id="15" name="Image 3" descr="line"/>
          <p:cNvPicPr>
            <a:picLocks noChangeAspect="1"/>
          </p:cNvPicPr>
          <p:nvPr/>
        </p:nvPicPr>
        <p:blipFill>
          <a:blip r:embed="rId4"/>
          <a:srcRect/>
          <a:stretch/>
        </p:blipFill>
        <p:spPr>
          <a:xfrm>
            <a:off x="4660900" y="3227388"/>
            <a:ext cx="2870200" cy="25400"/>
          </a:xfrm>
          <a:prstGeom prst="rect">
            <a:avLst/>
          </a:prstGeom>
        </p:spPr>
      </p:pic>
      <p:sp>
        <p:nvSpPr>
          <p:cNvPr id="16" name="Text 10"/>
          <p:cNvSpPr/>
          <p:nvPr/>
        </p:nvSpPr>
        <p:spPr>
          <a:xfrm>
            <a:off x="4660900" y="3341688"/>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10C"/>
                </a:solidFill>
                <a:latin typeface="Plus Jakarta Sans" pitchFamily="34" charset="0"/>
                <a:ea typeface="Plus Jakarta Sans" pitchFamily="34" charset="-122"/>
                <a:cs typeface="Plus Jakarta Sans" pitchFamily="34" charset="-120"/>
              </a:rPr>
              <a:t>WHAT THEY NEED</a:t>
            </a:r>
            <a:endParaRPr lang="en-US" sz="1200" dirty="0"/>
          </a:p>
        </p:txBody>
      </p:sp>
      <p:sp>
        <p:nvSpPr>
          <p:cNvPr id="17" name="Text 11"/>
          <p:cNvSpPr/>
          <p:nvPr/>
        </p:nvSpPr>
        <p:spPr>
          <a:xfrm>
            <a:off x="4660900" y="3643908"/>
            <a:ext cx="295630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62D"/>
                </a:solidFill>
                <a:latin typeface="Plus Jakarta Sans" pitchFamily="34" charset="0"/>
                <a:ea typeface="Plus Jakarta Sans" pitchFamily="34" charset="-122"/>
                <a:cs typeface="Plus Jakarta Sans" pitchFamily="34" charset="-120"/>
              </a:rPr>
              <a:t>Reliable, documented analysis to build on.</a:t>
            </a:r>
            <a:endParaRPr lang="en-US" sz="1500" dirty="0"/>
          </a:p>
        </p:txBody>
      </p:sp>
      <p:sp>
        <p:nvSpPr>
          <p:cNvPr id="18" name="Shape 12"/>
          <p:cNvSpPr/>
          <p:nvPr/>
        </p:nvSpPr>
        <p:spPr>
          <a:xfrm>
            <a:off x="7995709" y="1844610"/>
            <a:ext cx="3380317" cy="2587757"/>
          </a:xfrm>
          <a:prstGeom prst="roundRect">
            <a:avLst>
              <a:gd name="adj" fmla="val 4785"/>
            </a:avLst>
          </a:prstGeom>
          <a:solidFill>
            <a:srgbClr val="FCFBF7"/>
          </a:solidFill>
          <a:ln w="6350">
            <a:solidFill>
              <a:srgbClr val="DCD8CC"/>
            </a:solidFill>
            <a:prstDash val="solid"/>
          </a:ln>
        </p:spPr>
      </p:sp>
      <p:pic>
        <p:nvPicPr>
          <p:cNvPr id="19" name="Image 4" descr="Verified"/>
          <p:cNvPicPr>
            <a:picLocks noChangeAspect="1"/>
          </p:cNvPicPr>
          <p:nvPr/>
        </p:nvPicPr>
        <p:blipFill>
          <a:blip r:embed="rId6"/>
          <a:srcRect/>
          <a:stretch/>
        </p:blipFill>
        <p:spPr>
          <a:xfrm>
            <a:off x="8250767" y="2099667"/>
            <a:ext cx="355600" cy="355600"/>
          </a:xfrm>
          <a:prstGeom prst="rect">
            <a:avLst/>
          </a:prstGeom>
        </p:spPr>
      </p:pic>
      <p:sp>
        <p:nvSpPr>
          <p:cNvPr id="20" name="Text 13"/>
          <p:cNvSpPr/>
          <p:nvPr/>
        </p:nvSpPr>
        <p:spPr>
          <a:xfrm>
            <a:off x="8250767" y="254416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62D"/>
                </a:solidFill>
                <a:latin typeface="Plus Jakarta Sans" pitchFamily="34" charset="0"/>
                <a:ea typeface="Plus Jakarta Sans" pitchFamily="34" charset="-122"/>
                <a:cs typeface="Plus Jakarta Sans" pitchFamily="34" charset="-120"/>
              </a:rPr>
              <a:t>Executive team</a:t>
            </a:r>
            <a:endParaRPr lang="en-US" sz="1800" dirty="0"/>
          </a:p>
        </p:txBody>
      </p:sp>
      <p:sp>
        <p:nvSpPr>
          <p:cNvPr id="21" name="Text 14"/>
          <p:cNvSpPr/>
          <p:nvPr/>
        </p:nvSpPr>
        <p:spPr>
          <a:xfrm>
            <a:off x="8250767" y="2907376"/>
            <a:ext cx="295630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Final decision makers</a:t>
            </a:r>
            <a:endParaRPr lang="en-US" sz="1300" dirty="0"/>
          </a:p>
        </p:txBody>
      </p:sp>
      <p:pic>
        <p:nvPicPr>
          <p:cNvPr id="22" name="Image 5" descr="line"/>
          <p:cNvPicPr>
            <a:picLocks noChangeAspect="1"/>
          </p:cNvPicPr>
          <p:nvPr/>
        </p:nvPicPr>
        <p:blipFill>
          <a:blip r:embed="rId4"/>
          <a:srcRect/>
          <a:stretch/>
        </p:blipFill>
        <p:spPr>
          <a:xfrm>
            <a:off x="8250767" y="3227388"/>
            <a:ext cx="2870200" cy="25400"/>
          </a:xfrm>
          <a:prstGeom prst="rect">
            <a:avLst/>
          </a:prstGeom>
        </p:spPr>
      </p:pic>
      <p:sp>
        <p:nvSpPr>
          <p:cNvPr id="23" name="Text 15"/>
          <p:cNvSpPr/>
          <p:nvPr/>
        </p:nvSpPr>
        <p:spPr>
          <a:xfrm>
            <a:off x="8250767" y="3341688"/>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10C"/>
                </a:solidFill>
                <a:latin typeface="Plus Jakarta Sans" pitchFamily="34" charset="0"/>
                <a:ea typeface="Plus Jakarta Sans" pitchFamily="34" charset="-122"/>
                <a:cs typeface="Plus Jakarta Sans" pitchFamily="34" charset="-120"/>
              </a:rPr>
              <a:t>WHAT THEY NEED</a:t>
            </a:r>
            <a:endParaRPr lang="en-US" sz="1200" dirty="0"/>
          </a:p>
        </p:txBody>
      </p:sp>
      <p:sp>
        <p:nvSpPr>
          <p:cNvPr id="24" name="Text 16"/>
          <p:cNvSpPr/>
          <p:nvPr/>
        </p:nvSpPr>
        <p:spPr>
          <a:xfrm>
            <a:off x="8250767" y="3643908"/>
            <a:ext cx="295630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62D"/>
                </a:solidFill>
                <a:latin typeface="Plus Jakarta Sans" pitchFamily="34" charset="0"/>
                <a:ea typeface="Plus Jakarta Sans" pitchFamily="34" charset="-122"/>
                <a:cs typeface="Plus Jakarta Sans" pitchFamily="34" charset="-120"/>
              </a:rPr>
              <a:t>Evidence and clear visuals to approve the plan.</a:t>
            </a:r>
            <a:endParaRPr lang="en-US" sz="1500" dirty="0"/>
          </a:p>
        </p:txBody>
      </p:sp>
      <p:sp>
        <p:nvSpPr>
          <p:cNvPr id="25" name="Text 17"/>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26" name="Text 18"/>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A34"/>
        </a:solidFill>
        <a:effectLst/>
      </p:bgPr>
    </p:bg>
    <p:spTree>
      <p:nvGrpSpPr>
        <p:cNvPr id="1" name=""/>
        <p:cNvGrpSpPr/>
        <p:nvPr/>
      </p:nvGrpSpPr>
      <p:grpSpPr>
        <a:xfrm>
          <a:off x="0" y="0"/>
          <a:ext cx="0" cy="0"/>
          <a:chOff x="0" y="0"/>
          <a:chExt cx="0" cy="0"/>
        </a:xfrm>
      </p:grpSpPr>
      <p:sp>
        <p:nvSpPr>
          <p:cNvPr id="2" name="Text 0"/>
          <p:cNvSpPr/>
          <p:nvPr/>
        </p:nvSpPr>
        <p:spPr>
          <a:xfrm>
            <a:off x="812800" y="14795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A9BEC6"/>
                </a:solidFill>
                <a:latin typeface="Plus Jakarta Sans" pitchFamily="34" charset="0"/>
                <a:ea typeface="Plus Jakarta Sans" pitchFamily="34" charset="-122"/>
                <a:cs typeface="Plus Jakarta Sans" pitchFamily="34" charset="-120"/>
              </a:rPr>
              <a:t>SECTION</a:t>
            </a:r>
            <a:endParaRPr lang="en-US" sz="1500" dirty="0"/>
          </a:p>
        </p:txBody>
      </p:sp>
      <p:sp>
        <p:nvSpPr>
          <p:cNvPr id="3" name="Text 1"/>
          <p:cNvSpPr/>
          <p:nvPr/>
        </p:nvSpPr>
        <p:spPr>
          <a:xfrm>
            <a:off x="812800" y="1873250"/>
            <a:ext cx="10883392" cy="1930400"/>
          </a:xfrm>
          <a:prstGeom prst="rect">
            <a:avLst/>
          </a:prstGeom>
          <a:noFill/>
          <a:ln/>
        </p:spPr>
        <p:txBody>
          <a:bodyPr wrap="square" lIns="0" tIns="0" rIns="0" bIns="0" rtlCol="0" anchor="t">
            <a:normAutofit/>
          </a:bodyPr>
          <a:lstStyle/>
          <a:p>
            <a:pPr marL="0" indent="0" algn="l">
              <a:lnSpc>
                <a:spcPts val="15000"/>
              </a:lnSpc>
              <a:buNone/>
            </a:pPr>
            <a:r>
              <a:rPr lang="en-US" sz="15000" b="1" dirty="0">
                <a:solidFill>
                  <a:srgbClr val="F29A55"/>
                </a:solidFill>
                <a:latin typeface="Plus Jakarta Sans" pitchFamily="34" charset="0"/>
                <a:ea typeface="Plus Jakarta Sans" pitchFamily="34" charset="-122"/>
                <a:cs typeface="Plus Jakarta Sans" pitchFamily="34" charset="-120"/>
              </a:rPr>
              <a:t>02</a:t>
            </a:r>
            <a:endParaRPr lang="en-US" sz="15000" dirty="0"/>
          </a:p>
        </p:txBody>
      </p:sp>
      <p:sp>
        <p:nvSpPr>
          <p:cNvPr id="4" name="Text 2"/>
          <p:cNvSpPr>
            <a:spLocks noGrp="1"/>
          </p:cNvSpPr>
          <p:nvPr>
            <p:ph type="title"/>
          </p:nvPr>
        </p:nvSpPr>
        <p:spPr>
          <a:xfrm>
            <a:off x="812800" y="3905250"/>
            <a:ext cx="6540500"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3EC"/>
                </a:solidFill>
                <a:latin typeface="Plus Jakarta Sans" pitchFamily="34" charset="0"/>
                <a:ea typeface="Plus Jakarta Sans" pitchFamily="34" charset="-122"/>
                <a:cs typeface="Plus Jakarta Sans" pitchFamily="34" charset="-120"/>
              </a:rPr>
              <a:t>Analysis</a:t>
            </a:r>
            <a:endParaRPr lang="en-US" sz="4800" dirty="0"/>
          </a:p>
        </p:txBody>
      </p:sp>
      <p:sp>
        <p:nvSpPr>
          <p:cNvPr id="5" name="Text 3"/>
          <p:cNvSpPr/>
          <p:nvPr/>
        </p:nvSpPr>
        <p:spPr>
          <a:xfrm>
            <a:off x="812800" y="4702770"/>
            <a:ext cx="6540500" cy="701014"/>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A9BEC6"/>
                </a:solidFill>
                <a:latin typeface="Plus Jakarta Sans" pitchFamily="34" charset="0"/>
                <a:ea typeface="Plus Jakarta Sans" pitchFamily="34" charset="-122"/>
                <a:cs typeface="Plus Jakarta Sans" pitchFamily="34" charset="-120"/>
              </a:rPr>
              <a:t>Where the data came from, how it was cleaned and how we measured.</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ANALYSIS</a:t>
            </a:r>
            <a:endParaRPr lang="en-US" sz="1300" dirty="0"/>
          </a:p>
        </p:txBody>
      </p:sp>
      <p:sp>
        <p:nvSpPr>
          <p:cNvPr id="3" name="Text 1"/>
          <p:cNvSpPr>
            <a:spLocks noGrp="1"/>
          </p:cNvSpPr>
          <p:nvPr>
            <p:ph type="title"/>
          </p:nvPr>
        </p:nvSpPr>
        <p:spPr>
          <a:xfrm>
            <a:off x="812800" y="1120115"/>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Data sources</a:t>
            </a:r>
            <a:endParaRPr lang="en-US" sz="3200" dirty="0"/>
          </a:p>
        </p:txBody>
      </p:sp>
      <p:sp>
        <p:nvSpPr>
          <p:cNvPr id="4" name="Text 2"/>
          <p:cNvSpPr/>
          <p:nvPr/>
        </p:nvSpPr>
        <p:spPr>
          <a:xfrm>
            <a:off x="812800" y="1841435"/>
            <a:ext cx="3435615" cy="807707"/>
          </a:xfrm>
          <a:prstGeom prst="rect">
            <a:avLst/>
          </a:prstGeom>
          <a:noFill/>
          <a:ln/>
        </p:spPr>
        <p:txBody>
          <a:bodyPr wrap="square" lIns="0" tIns="0" rIns="0" bIns="0" rtlCol="0" anchor="t">
            <a:normAutofit/>
          </a:bodyPr>
          <a:lstStyle/>
          <a:p>
            <a:pPr marL="0" indent="0" algn="l">
              <a:lnSpc>
                <a:spcPts val="6160"/>
              </a:lnSpc>
              <a:buNone/>
            </a:pPr>
            <a:r>
              <a:rPr lang="en-US" sz="5600" b="1" dirty="0">
                <a:solidFill>
                  <a:srgbClr val="B4510C"/>
                </a:solidFill>
                <a:latin typeface="Plus Jakarta Sans" pitchFamily="34" charset="0"/>
                <a:ea typeface="Plus Jakarta Sans" pitchFamily="34" charset="-122"/>
                <a:cs typeface="Plus Jakarta Sans" pitchFamily="34" charset="-120"/>
              </a:rPr>
              <a:t>3,817,991</a:t>
            </a:r>
            <a:endParaRPr lang="en-US" sz="5600" dirty="0"/>
          </a:p>
        </p:txBody>
      </p:sp>
      <p:sp>
        <p:nvSpPr>
          <p:cNvPr id="5" name="Text 3"/>
          <p:cNvSpPr/>
          <p:nvPr/>
        </p:nvSpPr>
        <p:spPr>
          <a:xfrm>
            <a:off x="4248415" y="1948129"/>
            <a:ext cx="457835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62D"/>
                </a:solidFill>
                <a:latin typeface="Plus Jakarta Sans" pitchFamily="34" charset="0"/>
                <a:ea typeface="Plus Jakarta Sans" pitchFamily="34" charset="-122"/>
                <a:cs typeface="Plus Jakarta Sans" pitchFamily="34" charset="-120"/>
              </a:rPr>
              <a:t>trips across all four quarters of 2019, after cleaning</a:t>
            </a:r>
            <a:endParaRPr lang="en-US" sz="1600" dirty="0"/>
          </a:p>
        </p:txBody>
      </p:sp>
      <p:sp>
        <p:nvSpPr>
          <p:cNvPr id="6" name="Shape 4"/>
          <p:cNvSpPr/>
          <p:nvPr/>
        </p:nvSpPr>
        <p:spPr>
          <a:xfrm>
            <a:off x="815975" y="2880916"/>
            <a:ext cx="2520950" cy="1185664"/>
          </a:xfrm>
          <a:prstGeom prst="roundRect">
            <a:avLst>
              <a:gd name="adj" fmla="val 10444"/>
            </a:avLst>
          </a:prstGeom>
          <a:solidFill>
            <a:srgbClr val="FCFBF7"/>
          </a:solidFill>
          <a:ln w="6350">
            <a:solidFill>
              <a:srgbClr val="DCD8CC"/>
            </a:solidFill>
            <a:prstDash val="solid"/>
          </a:ln>
        </p:spPr>
      </p:sp>
      <p:sp>
        <p:nvSpPr>
          <p:cNvPr id="7" name="Text 5"/>
          <p:cNvSpPr/>
          <p:nvPr/>
        </p:nvSpPr>
        <p:spPr>
          <a:xfrm>
            <a:off x="994833" y="3059776"/>
            <a:ext cx="2228130"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F6F85"/>
                </a:solidFill>
                <a:latin typeface="Plus Jakarta Sans" pitchFamily="34" charset="0"/>
                <a:ea typeface="Plus Jakarta Sans" pitchFamily="34" charset="-122"/>
                <a:cs typeface="Plus Jakarta Sans" pitchFamily="34" charset="-120"/>
              </a:rPr>
              <a:t>Q1</a:t>
            </a:r>
            <a:endParaRPr lang="en-US" sz="2200" dirty="0"/>
          </a:p>
        </p:txBody>
      </p:sp>
      <p:sp>
        <p:nvSpPr>
          <p:cNvPr id="8" name="Text 6"/>
          <p:cNvSpPr/>
          <p:nvPr/>
        </p:nvSpPr>
        <p:spPr>
          <a:xfrm>
            <a:off x="994833" y="3405188"/>
            <a:ext cx="222813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Jan to Mar</a:t>
            </a:r>
            <a:endParaRPr lang="en-US" sz="1300" dirty="0"/>
          </a:p>
        </p:txBody>
      </p:sp>
      <p:sp>
        <p:nvSpPr>
          <p:cNvPr id="9" name="Text 7"/>
          <p:cNvSpPr/>
          <p:nvPr/>
        </p:nvSpPr>
        <p:spPr>
          <a:xfrm>
            <a:off x="994833" y="3674402"/>
            <a:ext cx="22281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Divvy_Trips_2019_Q1.csv</a:t>
            </a:r>
            <a:endParaRPr lang="en-US" sz="1200" dirty="0"/>
          </a:p>
        </p:txBody>
      </p:sp>
      <p:sp>
        <p:nvSpPr>
          <p:cNvPr id="10" name="Shape 8"/>
          <p:cNvSpPr/>
          <p:nvPr/>
        </p:nvSpPr>
        <p:spPr>
          <a:xfrm>
            <a:off x="3495675" y="2880916"/>
            <a:ext cx="2520950" cy="1185664"/>
          </a:xfrm>
          <a:prstGeom prst="roundRect">
            <a:avLst>
              <a:gd name="adj" fmla="val 10444"/>
            </a:avLst>
          </a:prstGeom>
          <a:solidFill>
            <a:srgbClr val="FCFBF7"/>
          </a:solidFill>
          <a:ln w="6350">
            <a:solidFill>
              <a:srgbClr val="DCD8CC"/>
            </a:solidFill>
            <a:prstDash val="solid"/>
          </a:ln>
        </p:spPr>
      </p:sp>
      <p:sp>
        <p:nvSpPr>
          <p:cNvPr id="11" name="Text 9"/>
          <p:cNvSpPr/>
          <p:nvPr/>
        </p:nvSpPr>
        <p:spPr>
          <a:xfrm>
            <a:off x="3674533" y="3059776"/>
            <a:ext cx="2228130"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F6F85"/>
                </a:solidFill>
                <a:latin typeface="Plus Jakarta Sans" pitchFamily="34" charset="0"/>
                <a:ea typeface="Plus Jakarta Sans" pitchFamily="34" charset="-122"/>
                <a:cs typeface="Plus Jakarta Sans" pitchFamily="34" charset="-120"/>
              </a:rPr>
              <a:t>Q2</a:t>
            </a:r>
            <a:endParaRPr lang="en-US" sz="2200" dirty="0"/>
          </a:p>
        </p:txBody>
      </p:sp>
      <p:sp>
        <p:nvSpPr>
          <p:cNvPr id="12" name="Text 10"/>
          <p:cNvSpPr/>
          <p:nvPr/>
        </p:nvSpPr>
        <p:spPr>
          <a:xfrm>
            <a:off x="3674533" y="3405188"/>
            <a:ext cx="222813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Apr to Jun</a:t>
            </a:r>
            <a:endParaRPr lang="en-US" sz="1300" dirty="0"/>
          </a:p>
        </p:txBody>
      </p:sp>
      <p:sp>
        <p:nvSpPr>
          <p:cNvPr id="13" name="Text 11"/>
          <p:cNvSpPr/>
          <p:nvPr/>
        </p:nvSpPr>
        <p:spPr>
          <a:xfrm>
            <a:off x="3674533" y="3674402"/>
            <a:ext cx="22281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Divvy_Trips_2019_Q2.csv</a:t>
            </a:r>
            <a:endParaRPr lang="en-US" sz="1200" dirty="0"/>
          </a:p>
        </p:txBody>
      </p:sp>
      <p:sp>
        <p:nvSpPr>
          <p:cNvPr id="14" name="Shape 12"/>
          <p:cNvSpPr/>
          <p:nvPr/>
        </p:nvSpPr>
        <p:spPr>
          <a:xfrm>
            <a:off x="6175375" y="2880916"/>
            <a:ext cx="2520950" cy="1185664"/>
          </a:xfrm>
          <a:prstGeom prst="roundRect">
            <a:avLst>
              <a:gd name="adj" fmla="val 10444"/>
            </a:avLst>
          </a:prstGeom>
          <a:solidFill>
            <a:srgbClr val="FCFBF7"/>
          </a:solidFill>
          <a:ln w="6350">
            <a:solidFill>
              <a:srgbClr val="DCD8CC"/>
            </a:solidFill>
            <a:prstDash val="solid"/>
          </a:ln>
        </p:spPr>
      </p:sp>
      <p:sp>
        <p:nvSpPr>
          <p:cNvPr id="15" name="Text 13"/>
          <p:cNvSpPr/>
          <p:nvPr/>
        </p:nvSpPr>
        <p:spPr>
          <a:xfrm>
            <a:off x="6354233" y="3059776"/>
            <a:ext cx="2228130"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F6F85"/>
                </a:solidFill>
                <a:latin typeface="Plus Jakarta Sans" pitchFamily="34" charset="0"/>
                <a:ea typeface="Plus Jakarta Sans" pitchFamily="34" charset="-122"/>
                <a:cs typeface="Plus Jakarta Sans" pitchFamily="34" charset="-120"/>
              </a:rPr>
              <a:t>Q3</a:t>
            </a:r>
            <a:endParaRPr lang="en-US" sz="2200" dirty="0"/>
          </a:p>
        </p:txBody>
      </p:sp>
      <p:sp>
        <p:nvSpPr>
          <p:cNvPr id="16" name="Text 14"/>
          <p:cNvSpPr/>
          <p:nvPr/>
        </p:nvSpPr>
        <p:spPr>
          <a:xfrm>
            <a:off x="6354233" y="3405188"/>
            <a:ext cx="222813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Jul to Sep</a:t>
            </a:r>
            <a:endParaRPr lang="en-US" sz="1300" dirty="0"/>
          </a:p>
        </p:txBody>
      </p:sp>
      <p:sp>
        <p:nvSpPr>
          <p:cNvPr id="17" name="Text 15"/>
          <p:cNvSpPr/>
          <p:nvPr/>
        </p:nvSpPr>
        <p:spPr>
          <a:xfrm>
            <a:off x="6354233" y="3674402"/>
            <a:ext cx="22281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Divvy_Trips_2019_Q3.csv</a:t>
            </a:r>
            <a:endParaRPr lang="en-US" sz="1200" dirty="0"/>
          </a:p>
        </p:txBody>
      </p:sp>
      <p:sp>
        <p:nvSpPr>
          <p:cNvPr id="18" name="Shape 16"/>
          <p:cNvSpPr/>
          <p:nvPr/>
        </p:nvSpPr>
        <p:spPr>
          <a:xfrm>
            <a:off x="8855075" y="2880916"/>
            <a:ext cx="2520950" cy="1185664"/>
          </a:xfrm>
          <a:prstGeom prst="roundRect">
            <a:avLst>
              <a:gd name="adj" fmla="val 10444"/>
            </a:avLst>
          </a:prstGeom>
          <a:solidFill>
            <a:srgbClr val="FCFBF7"/>
          </a:solidFill>
          <a:ln w="6350">
            <a:solidFill>
              <a:srgbClr val="DCD8CC"/>
            </a:solidFill>
            <a:prstDash val="solid"/>
          </a:ln>
        </p:spPr>
      </p:sp>
      <p:sp>
        <p:nvSpPr>
          <p:cNvPr id="19" name="Text 17"/>
          <p:cNvSpPr/>
          <p:nvPr/>
        </p:nvSpPr>
        <p:spPr>
          <a:xfrm>
            <a:off x="9033934" y="3059776"/>
            <a:ext cx="2228130"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F6F85"/>
                </a:solidFill>
                <a:latin typeface="Plus Jakarta Sans" pitchFamily="34" charset="0"/>
                <a:ea typeface="Plus Jakarta Sans" pitchFamily="34" charset="-122"/>
                <a:cs typeface="Plus Jakarta Sans" pitchFamily="34" charset="-120"/>
              </a:rPr>
              <a:t>Q4</a:t>
            </a:r>
            <a:endParaRPr lang="en-US" sz="2200" dirty="0"/>
          </a:p>
        </p:txBody>
      </p:sp>
      <p:sp>
        <p:nvSpPr>
          <p:cNvPr id="20" name="Text 18"/>
          <p:cNvSpPr/>
          <p:nvPr/>
        </p:nvSpPr>
        <p:spPr>
          <a:xfrm>
            <a:off x="9033934" y="3405188"/>
            <a:ext cx="222813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Oct to Dec</a:t>
            </a:r>
            <a:endParaRPr lang="en-US" sz="1300" dirty="0"/>
          </a:p>
        </p:txBody>
      </p:sp>
      <p:sp>
        <p:nvSpPr>
          <p:cNvPr id="21" name="Text 19"/>
          <p:cNvSpPr/>
          <p:nvPr/>
        </p:nvSpPr>
        <p:spPr>
          <a:xfrm>
            <a:off x="9033934" y="3674402"/>
            <a:ext cx="22281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Divvy_Trips_2019_Q4.csv</a:t>
            </a:r>
            <a:endParaRPr lang="en-US" sz="1200" dirty="0"/>
          </a:p>
        </p:txBody>
      </p:sp>
      <p:sp>
        <p:nvSpPr>
          <p:cNvPr id="22" name="Shape 20"/>
          <p:cNvSpPr/>
          <p:nvPr/>
        </p:nvSpPr>
        <p:spPr>
          <a:xfrm>
            <a:off x="815975" y="4326930"/>
            <a:ext cx="3414183" cy="1332971"/>
          </a:xfrm>
          <a:prstGeom prst="roundRect">
            <a:avLst>
              <a:gd name="adj" fmla="val 9289"/>
            </a:avLst>
          </a:prstGeom>
          <a:solidFill>
            <a:srgbClr val="FCFBF7"/>
          </a:solidFill>
          <a:ln w="6350">
            <a:solidFill>
              <a:srgbClr val="DCD8CC"/>
            </a:solidFill>
            <a:prstDash val="solid"/>
          </a:ln>
        </p:spPr>
      </p:sp>
      <p:sp>
        <p:nvSpPr>
          <p:cNvPr id="23" name="Text 21"/>
          <p:cNvSpPr/>
          <p:nvPr/>
        </p:nvSpPr>
        <p:spPr>
          <a:xfrm>
            <a:off x="994833" y="4505790"/>
            <a:ext cx="314816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10C"/>
                </a:solidFill>
                <a:latin typeface="Plus Jakarta Sans" pitchFamily="34" charset="0"/>
                <a:ea typeface="Plus Jakarta Sans" pitchFamily="34" charset="-122"/>
                <a:cs typeface="Plus Jakarta Sans" pitchFamily="34" charset="-120"/>
              </a:rPr>
              <a:t>Source and licence</a:t>
            </a:r>
            <a:endParaRPr lang="en-US" sz="1300" dirty="0"/>
          </a:p>
        </p:txBody>
      </p:sp>
      <p:sp>
        <p:nvSpPr>
          <p:cNvPr id="24" name="Text 22"/>
          <p:cNvSpPr/>
          <p:nvPr/>
        </p:nvSpPr>
        <p:spPr>
          <a:xfrm>
            <a:off x="994833" y="4787702"/>
            <a:ext cx="3148161"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Divvy trip data from Motivate International, used under the Divvy Data License Agreement.</a:t>
            </a:r>
            <a:endParaRPr lang="en-US" sz="1300" dirty="0"/>
          </a:p>
        </p:txBody>
      </p:sp>
      <p:sp>
        <p:nvSpPr>
          <p:cNvPr id="25" name="Shape 23"/>
          <p:cNvSpPr/>
          <p:nvPr/>
        </p:nvSpPr>
        <p:spPr>
          <a:xfrm>
            <a:off x="4388908" y="4326930"/>
            <a:ext cx="3414183" cy="1332971"/>
          </a:xfrm>
          <a:prstGeom prst="roundRect">
            <a:avLst>
              <a:gd name="adj" fmla="val 9289"/>
            </a:avLst>
          </a:prstGeom>
          <a:solidFill>
            <a:srgbClr val="FCFBF7"/>
          </a:solidFill>
          <a:ln w="6350">
            <a:solidFill>
              <a:srgbClr val="DCD8CC"/>
            </a:solidFill>
            <a:prstDash val="solid"/>
          </a:ln>
        </p:spPr>
      </p:sp>
      <p:sp>
        <p:nvSpPr>
          <p:cNvPr id="26" name="Text 24"/>
          <p:cNvSpPr/>
          <p:nvPr/>
        </p:nvSpPr>
        <p:spPr>
          <a:xfrm>
            <a:off x="4567767" y="4505790"/>
            <a:ext cx="314816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10C"/>
                </a:solidFill>
                <a:latin typeface="Plus Jakarta Sans" pitchFamily="34" charset="0"/>
                <a:ea typeface="Plus Jakarta Sans" pitchFamily="34" charset="-122"/>
                <a:cs typeface="Plus Jakarta Sans" pitchFamily="34" charset="-120"/>
              </a:rPr>
              <a:t>Privacy</a:t>
            </a:r>
            <a:endParaRPr lang="en-US" sz="1300" dirty="0"/>
          </a:p>
        </p:txBody>
      </p:sp>
      <p:sp>
        <p:nvSpPr>
          <p:cNvPr id="27" name="Text 25"/>
          <p:cNvSpPr/>
          <p:nvPr/>
        </p:nvSpPr>
        <p:spPr>
          <a:xfrm>
            <a:off x="4567767" y="4787702"/>
            <a:ext cx="3148161"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No personally identifiable information used. Gender and birth year were dropped.</a:t>
            </a:r>
            <a:endParaRPr lang="en-US" sz="1300" dirty="0"/>
          </a:p>
        </p:txBody>
      </p:sp>
      <p:sp>
        <p:nvSpPr>
          <p:cNvPr id="28" name="Shape 26"/>
          <p:cNvSpPr/>
          <p:nvPr/>
        </p:nvSpPr>
        <p:spPr>
          <a:xfrm>
            <a:off x="7961842" y="4326930"/>
            <a:ext cx="3414183" cy="1332971"/>
          </a:xfrm>
          <a:prstGeom prst="roundRect">
            <a:avLst>
              <a:gd name="adj" fmla="val 9289"/>
            </a:avLst>
          </a:prstGeom>
          <a:solidFill>
            <a:srgbClr val="FCFBF7"/>
          </a:solidFill>
          <a:ln w="6350">
            <a:solidFill>
              <a:srgbClr val="DCD8CC"/>
            </a:solidFill>
            <a:prstDash val="solid"/>
          </a:ln>
        </p:spPr>
      </p:sp>
      <p:sp>
        <p:nvSpPr>
          <p:cNvPr id="29" name="Text 27"/>
          <p:cNvSpPr/>
          <p:nvPr/>
        </p:nvSpPr>
        <p:spPr>
          <a:xfrm>
            <a:off x="8140700" y="4505790"/>
            <a:ext cx="314816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10C"/>
                </a:solidFill>
                <a:latin typeface="Plus Jakarta Sans" pitchFamily="34" charset="0"/>
                <a:ea typeface="Plus Jakarta Sans" pitchFamily="34" charset="-122"/>
                <a:cs typeface="Plus Jakarta Sans" pitchFamily="34" charset="-120"/>
              </a:rPr>
              <a:t>Credibility</a:t>
            </a:r>
            <a:endParaRPr lang="en-US" sz="1300" dirty="0"/>
          </a:p>
        </p:txBody>
      </p:sp>
      <p:sp>
        <p:nvSpPr>
          <p:cNvPr id="30" name="Text 28"/>
          <p:cNvSpPr/>
          <p:nvPr/>
        </p:nvSpPr>
        <p:spPr>
          <a:xfrm>
            <a:off x="8140700" y="4787702"/>
            <a:ext cx="3148161"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Recorded by the system itself. Limit: 2019 only, and rides are counted, not people.</a:t>
            </a:r>
            <a:endParaRPr lang="en-US" sz="1300" dirty="0"/>
          </a:p>
        </p:txBody>
      </p:sp>
      <p:sp>
        <p:nvSpPr>
          <p:cNvPr id="31" name="Text 29"/>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32" name="Text 30"/>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ANALYSIS</a:t>
            </a:r>
            <a:endParaRPr lang="en-US" sz="1300" dirty="0"/>
          </a:p>
        </p:txBody>
      </p:sp>
      <p:sp>
        <p:nvSpPr>
          <p:cNvPr id="3" name="Text 1"/>
          <p:cNvSpPr>
            <a:spLocks noGrp="1"/>
          </p:cNvSpPr>
          <p:nvPr>
            <p:ph type="title"/>
          </p:nvPr>
        </p:nvSpPr>
        <p:spPr>
          <a:xfrm>
            <a:off x="812800" y="1120115"/>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Cleaning process</a:t>
            </a:r>
            <a:endParaRPr lang="en-US" sz="3200" dirty="0"/>
          </a:p>
        </p:txBody>
      </p:sp>
      <p:sp>
        <p:nvSpPr>
          <p:cNvPr id="4" name="Shape 2"/>
          <p:cNvSpPr/>
          <p:nvPr/>
        </p:nvSpPr>
        <p:spPr>
          <a:xfrm>
            <a:off x="815975" y="1844610"/>
            <a:ext cx="3414183" cy="1315244"/>
          </a:xfrm>
          <a:prstGeom prst="roundRect">
            <a:avLst>
              <a:gd name="adj" fmla="val 9415"/>
            </a:avLst>
          </a:prstGeom>
          <a:solidFill>
            <a:srgbClr val="FCFBF7"/>
          </a:solidFill>
          <a:ln w="6350">
            <a:solidFill>
              <a:srgbClr val="DCD8CC"/>
            </a:solidFill>
            <a:prstDash val="solid"/>
          </a:ln>
        </p:spPr>
      </p:sp>
      <p:sp>
        <p:nvSpPr>
          <p:cNvPr id="5" name="Text 3"/>
          <p:cNvSpPr/>
          <p:nvPr/>
        </p:nvSpPr>
        <p:spPr>
          <a:xfrm>
            <a:off x="1020233" y="2048867"/>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F6F85"/>
          </a:solidFill>
          <a:ln/>
        </p:spPr>
        <p:txBody>
          <a:bodyPr wrap="square" lIns="0" tIns="0" rIns="0" bIns="0" rtlCol="0" anchor="t">
            <a:normAutofit/>
          </a:bodyPr>
          <a:lstStyle/>
          <a:p>
            <a:pPr marL="0" indent="0" algn="ctr">
              <a:lnSpc>
                <a:spcPts val="2805"/>
              </a:lnSpc>
              <a:buNone/>
            </a:pPr>
            <a:r>
              <a:rPr lang="en-US" sz="1500" b="1" dirty="0">
                <a:solidFill>
                  <a:srgbClr val="F5F3EC"/>
                </a:solidFill>
                <a:latin typeface="Plus Jakarta Sans" pitchFamily="34" charset="0"/>
                <a:ea typeface="Plus Jakarta Sans" pitchFamily="34" charset="-122"/>
                <a:cs typeface="Plus Jakarta Sans" pitchFamily="34" charset="-120"/>
              </a:rPr>
              <a:t>1</a:t>
            </a:r>
            <a:endParaRPr lang="en-US" sz="1500" dirty="0"/>
          </a:p>
        </p:txBody>
      </p:sp>
      <p:sp>
        <p:nvSpPr>
          <p:cNvPr id="6" name="Text 4"/>
          <p:cNvSpPr/>
          <p:nvPr/>
        </p:nvSpPr>
        <p:spPr>
          <a:xfrm>
            <a:off x="1477433" y="2084456"/>
            <a:ext cx="162131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Combine files</a:t>
            </a:r>
            <a:endParaRPr lang="en-US" sz="1600" dirty="0"/>
          </a:p>
        </p:txBody>
      </p:sp>
      <p:sp>
        <p:nvSpPr>
          <p:cNvPr id="7" name="Text 5"/>
          <p:cNvSpPr/>
          <p:nvPr/>
        </p:nvSpPr>
        <p:spPr>
          <a:xfrm>
            <a:off x="1020233" y="2493367"/>
            <a:ext cx="309583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Four quarterly files merged. Q2 headers renamed to match the others.</a:t>
            </a:r>
            <a:endParaRPr lang="en-US" sz="1300" dirty="0"/>
          </a:p>
        </p:txBody>
      </p:sp>
      <p:sp>
        <p:nvSpPr>
          <p:cNvPr id="8" name="Shape 6"/>
          <p:cNvSpPr/>
          <p:nvPr/>
        </p:nvSpPr>
        <p:spPr>
          <a:xfrm>
            <a:off x="4388908" y="1844610"/>
            <a:ext cx="3414183" cy="1315244"/>
          </a:xfrm>
          <a:prstGeom prst="roundRect">
            <a:avLst>
              <a:gd name="adj" fmla="val 9415"/>
            </a:avLst>
          </a:prstGeom>
          <a:solidFill>
            <a:srgbClr val="FCFBF7"/>
          </a:solidFill>
          <a:ln w="6350">
            <a:solidFill>
              <a:srgbClr val="DCD8CC"/>
            </a:solidFill>
            <a:prstDash val="solid"/>
          </a:ln>
        </p:spPr>
      </p:sp>
      <p:sp>
        <p:nvSpPr>
          <p:cNvPr id="9" name="Text 7"/>
          <p:cNvSpPr/>
          <p:nvPr/>
        </p:nvSpPr>
        <p:spPr>
          <a:xfrm>
            <a:off x="4593167" y="2048867"/>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F6F85"/>
          </a:solidFill>
          <a:ln/>
        </p:spPr>
        <p:txBody>
          <a:bodyPr wrap="square" lIns="0" tIns="0" rIns="0" bIns="0" rtlCol="0" anchor="t">
            <a:normAutofit/>
          </a:bodyPr>
          <a:lstStyle/>
          <a:p>
            <a:pPr marL="0" indent="0" algn="ctr">
              <a:lnSpc>
                <a:spcPts val="2805"/>
              </a:lnSpc>
              <a:buNone/>
            </a:pPr>
            <a:r>
              <a:rPr lang="en-US" sz="1500" b="1" dirty="0">
                <a:solidFill>
                  <a:srgbClr val="F5F3EC"/>
                </a:solidFill>
                <a:latin typeface="Plus Jakarta Sans" pitchFamily="34" charset="0"/>
                <a:ea typeface="Plus Jakarta Sans" pitchFamily="34" charset="-122"/>
                <a:cs typeface="Plus Jakarta Sans" pitchFamily="34" charset="-120"/>
              </a:rPr>
              <a:t>2</a:t>
            </a:r>
            <a:endParaRPr lang="en-US" sz="1500" dirty="0"/>
          </a:p>
        </p:txBody>
      </p:sp>
      <p:sp>
        <p:nvSpPr>
          <p:cNvPr id="10" name="Text 8"/>
          <p:cNvSpPr/>
          <p:nvPr/>
        </p:nvSpPr>
        <p:spPr>
          <a:xfrm>
            <a:off x="5050367" y="2084456"/>
            <a:ext cx="194952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Drop extra fields</a:t>
            </a:r>
            <a:endParaRPr lang="en-US" sz="1600" dirty="0"/>
          </a:p>
        </p:txBody>
      </p:sp>
      <p:sp>
        <p:nvSpPr>
          <p:cNvPr id="11" name="Text 9"/>
          <p:cNvSpPr/>
          <p:nvPr/>
        </p:nvSpPr>
        <p:spPr>
          <a:xfrm>
            <a:off x="4593167" y="2493367"/>
            <a:ext cx="309583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Removed gender and birthyear: not needed and partly missing.</a:t>
            </a:r>
            <a:endParaRPr lang="en-US" sz="1300" dirty="0"/>
          </a:p>
        </p:txBody>
      </p:sp>
      <p:sp>
        <p:nvSpPr>
          <p:cNvPr id="12" name="Shape 10"/>
          <p:cNvSpPr/>
          <p:nvPr/>
        </p:nvSpPr>
        <p:spPr>
          <a:xfrm>
            <a:off x="7961842" y="1844610"/>
            <a:ext cx="3414183" cy="1315244"/>
          </a:xfrm>
          <a:prstGeom prst="roundRect">
            <a:avLst>
              <a:gd name="adj" fmla="val 9415"/>
            </a:avLst>
          </a:prstGeom>
          <a:solidFill>
            <a:srgbClr val="FCFBF7"/>
          </a:solidFill>
          <a:ln w="6350">
            <a:solidFill>
              <a:srgbClr val="DCD8CC"/>
            </a:solidFill>
            <a:prstDash val="solid"/>
          </a:ln>
        </p:spPr>
      </p:sp>
      <p:sp>
        <p:nvSpPr>
          <p:cNvPr id="13" name="Text 11"/>
          <p:cNvSpPr/>
          <p:nvPr/>
        </p:nvSpPr>
        <p:spPr>
          <a:xfrm>
            <a:off x="8166100" y="2048867"/>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F6F85"/>
          </a:solidFill>
          <a:ln/>
        </p:spPr>
        <p:txBody>
          <a:bodyPr wrap="square" lIns="0" tIns="0" rIns="0" bIns="0" rtlCol="0" anchor="t">
            <a:normAutofit/>
          </a:bodyPr>
          <a:lstStyle/>
          <a:p>
            <a:pPr marL="0" indent="0" algn="ctr">
              <a:lnSpc>
                <a:spcPts val="2805"/>
              </a:lnSpc>
              <a:buNone/>
            </a:pPr>
            <a:r>
              <a:rPr lang="en-US" sz="1500" b="1" dirty="0">
                <a:solidFill>
                  <a:srgbClr val="F5F3EC"/>
                </a:solidFill>
                <a:latin typeface="Plus Jakarta Sans" pitchFamily="34" charset="0"/>
                <a:ea typeface="Plus Jakarta Sans" pitchFamily="34" charset="-122"/>
                <a:cs typeface="Plus Jakarta Sans" pitchFamily="34" charset="-120"/>
              </a:rPr>
              <a:t>3</a:t>
            </a:r>
            <a:endParaRPr lang="en-US" sz="1500" dirty="0"/>
          </a:p>
        </p:txBody>
      </p:sp>
      <p:sp>
        <p:nvSpPr>
          <p:cNvPr id="14" name="Text 12"/>
          <p:cNvSpPr/>
          <p:nvPr/>
        </p:nvSpPr>
        <p:spPr>
          <a:xfrm>
            <a:off x="8623300" y="2084456"/>
            <a:ext cx="1653619"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Fix data types</a:t>
            </a:r>
            <a:endParaRPr lang="en-US" sz="1600" dirty="0"/>
          </a:p>
        </p:txBody>
      </p:sp>
      <p:sp>
        <p:nvSpPr>
          <p:cNvPr id="15" name="Text 13"/>
          <p:cNvSpPr/>
          <p:nvPr/>
        </p:nvSpPr>
        <p:spPr>
          <a:xfrm>
            <a:off x="8166100" y="2493367"/>
            <a:ext cx="309583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Timestamps parsed as dates. Commas removed from tripduration.</a:t>
            </a:r>
            <a:endParaRPr lang="en-US" sz="1300" dirty="0"/>
          </a:p>
        </p:txBody>
      </p:sp>
      <p:sp>
        <p:nvSpPr>
          <p:cNvPr id="16" name="Shape 14"/>
          <p:cNvSpPr/>
          <p:nvPr/>
        </p:nvSpPr>
        <p:spPr>
          <a:xfrm>
            <a:off x="815975" y="3318604"/>
            <a:ext cx="3414183" cy="1315244"/>
          </a:xfrm>
          <a:prstGeom prst="roundRect">
            <a:avLst>
              <a:gd name="adj" fmla="val 9415"/>
            </a:avLst>
          </a:prstGeom>
          <a:solidFill>
            <a:srgbClr val="FCFBF7"/>
          </a:solidFill>
          <a:ln w="6350">
            <a:solidFill>
              <a:srgbClr val="DCD8CC"/>
            </a:solidFill>
            <a:prstDash val="solid"/>
          </a:ln>
        </p:spPr>
      </p:sp>
      <p:sp>
        <p:nvSpPr>
          <p:cNvPr id="17" name="Text 15"/>
          <p:cNvSpPr/>
          <p:nvPr/>
        </p:nvSpPr>
        <p:spPr>
          <a:xfrm>
            <a:off x="1020233" y="352286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F6F85"/>
          </a:solidFill>
          <a:ln/>
        </p:spPr>
        <p:txBody>
          <a:bodyPr wrap="square" lIns="0" tIns="0" rIns="0" bIns="0" rtlCol="0" anchor="t">
            <a:normAutofit/>
          </a:bodyPr>
          <a:lstStyle/>
          <a:p>
            <a:pPr marL="0" indent="0" algn="ctr">
              <a:lnSpc>
                <a:spcPts val="2805"/>
              </a:lnSpc>
              <a:buNone/>
            </a:pPr>
            <a:r>
              <a:rPr lang="en-US" sz="1500" b="1" dirty="0">
                <a:solidFill>
                  <a:srgbClr val="F5F3EC"/>
                </a:solidFill>
                <a:latin typeface="Plus Jakarta Sans" pitchFamily="34" charset="0"/>
                <a:ea typeface="Plus Jakarta Sans" pitchFamily="34" charset="-122"/>
                <a:cs typeface="Plus Jakarta Sans" pitchFamily="34" charset="-120"/>
              </a:rPr>
              <a:t>4</a:t>
            </a:r>
            <a:endParaRPr lang="en-US" sz="1500" dirty="0"/>
          </a:p>
        </p:txBody>
      </p:sp>
      <p:sp>
        <p:nvSpPr>
          <p:cNvPr id="18" name="Text 16"/>
          <p:cNvSpPr/>
          <p:nvPr/>
        </p:nvSpPr>
        <p:spPr>
          <a:xfrm>
            <a:off x="1477433" y="3558449"/>
            <a:ext cx="219170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Relabel customers</a:t>
            </a:r>
            <a:endParaRPr lang="en-US" sz="1600" dirty="0"/>
          </a:p>
        </p:txBody>
      </p:sp>
      <p:sp>
        <p:nvSpPr>
          <p:cNvPr id="19" name="Text 17"/>
          <p:cNvSpPr/>
          <p:nvPr/>
        </p:nvSpPr>
        <p:spPr>
          <a:xfrm>
            <a:off x="1020233" y="3967361"/>
            <a:ext cx="309583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Subscriber became Member. Customer became Casual.</a:t>
            </a:r>
            <a:endParaRPr lang="en-US" sz="1300" dirty="0"/>
          </a:p>
        </p:txBody>
      </p:sp>
      <p:sp>
        <p:nvSpPr>
          <p:cNvPr id="20" name="Shape 18"/>
          <p:cNvSpPr/>
          <p:nvPr/>
        </p:nvSpPr>
        <p:spPr>
          <a:xfrm>
            <a:off x="4388908" y="3318604"/>
            <a:ext cx="3414183" cy="1315244"/>
          </a:xfrm>
          <a:prstGeom prst="roundRect">
            <a:avLst>
              <a:gd name="adj" fmla="val 9415"/>
            </a:avLst>
          </a:prstGeom>
          <a:solidFill>
            <a:srgbClr val="FCFBF7"/>
          </a:solidFill>
          <a:ln w="6350">
            <a:solidFill>
              <a:srgbClr val="DCD8CC"/>
            </a:solidFill>
            <a:prstDash val="solid"/>
          </a:ln>
        </p:spPr>
      </p:sp>
      <p:sp>
        <p:nvSpPr>
          <p:cNvPr id="21" name="Text 19"/>
          <p:cNvSpPr/>
          <p:nvPr/>
        </p:nvSpPr>
        <p:spPr>
          <a:xfrm>
            <a:off x="4593167" y="352286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F6F85"/>
          </a:solidFill>
          <a:ln/>
        </p:spPr>
        <p:txBody>
          <a:bodyPr wrap="square" lIns="0" tIns="0" rIns="0" bIns="0" rtlCol="0" anchor="t">
            <a:normAutofit/>
          </a:bodyPr>
          <a:lstStyle/>
          <a:p>
            <a:pPr marL="0" indent="0" algn="ctr">
              <a:lnSpc>
                <a:spcPts val="2805"/>
              </a:lnSpc>
              <a:buNone/>
            </a:pPr>
            <a:r>
              <a:rPr lang="en-US" sz="1500" b="1" dirty="0">
                <a:solidFill>
                  <a:srgbClr val="F5F3EC"/>
                </a:solidFill>
                <a:latin typeface="Plus Jakarta Sans" pitchFamily="34" charset="0"/>
                <a:ea typeface="Plus Jakarta Sans" pitchFamily="34" charset="-122"/>
                <a:cs typeface="Plus Jakarta Sans" pitchFamily="34" charset="-120"/>
              </a:rPr>
              <a:t>5</a:t>
            </a:r>
            <a:endParaRPr lang="en-US" sz="1500" dirty="0"/>
          </a:p>
        </p:txBody>
      </p:sp>
      <p:sp>
        <p:nvSpPr>
          <p:cNvPr id="22" name="Text 20"/>
          <p:cNvSpPr/>
          <p:nvPr/>
        </p:nvSpPr>
        <p:spPr>
          <a:xfrm>
            <a:off x="5050367" y="3558449"/>
            <a:ext cx="2064306"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Create new fields</a:t>
            </a:r>
            <a:endParaRPr lang="en-US" sz="1600" dirty="0"/>
          </a:p>
        </p:txBody>
      </p:sp>
      <p:sp>
        <p:nvSpPr>
          <p:cNvPr id="23" name="Text 21"/>
          <p:cNvSpPr/>
          <p:nvPr/>
        </p:nvSpPr>
        <p:spPr>
          <a:xfrm>
            <a:off x="4593167" y="3967361"/>
            <a:ext cx="309583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ride_length in seconds and day_of_week from start_time.</a:t>
            </a:r>
            <a:endParaRPr lang="en-US" sz="1300" dirty="0"/>
          </a:p>
        </p:txBody>
      </p:sp>
      <p:sp>
        <p:nvSpPr>
          <p:cNvPr id="24" name="Shape 22"/>
          <p:cNvSpPr/>
          <p:nvPr/>
        </p:nvSpPr>
        <p:spPr>
          <a:xfrm>
            <a:off x="7961842" y="3318604"/>
            <a:ext cx="3414183" cy="1315244"/>
          </a:xfrm>
          <a:prstGeom prst="roundRect">
            <a:avLst>
              <a:gd name="adj" fmla="val 9415"/>
            </a:avLst>
          </a:prstGeom>
          <a:solidFill>
            <a:srgbClr val="FCFBF7"/>
          </a:solidFill>
          <a:ln w="6350">
            <a:solidFill>
              <a:srgbClr val="DCD8CC"/>
            </a:solidFill>
            <a:prstDash val="solid"/>
          </a:ln>
        </p:spPr>
      </p:sp>
      <p:sp>
        <p:nvSpPr>
          <p:cNvPr id="25" name="Text 23"/>
          <p:cNvSpPr/>
          <p:nvPr/>
        </p:nvSpPr>
        <p:spPr>
          <a:xfrm>
            <a:off x="8166100" y="352286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F6F85"/>
          </a:solidFill>
          <a:ln/>
        </p:spPr>
        <p:txBody>
          <a:bodyPr wrap="square" lIns="0" tIns="0" rIns="0" bIns="0" rtlCol="0" anchor="t">
            <a:normAutofit/>
          </a:bodyPr>
          <a:lstStyle/>
          <a:p>
            <a:pPr marL="0" indent="0" algn="ctr">
              <a:lnSpc>
                <a:spcPts val="2805"/>
              </a:lnSpc>
              <a:buNone/>
            </a:pPr>
            <a:r>
              <a:rPr lang="en-US" sz="1500" b="1" dirty="0">
                <a:solidFill>
                  <a:srgbClr val="F5F3EC"/>
                </a:solidFill>
                <a:latin typeface="Plus Jakarta Sans" pitchFamily="34" charset="0"/>
                <a:ea typeface="Plus Jakarta Sans" pitchFamily="34" charset="-122"/>
                <a:cs typeface="Plus Jakarta Sans" pitchFamily="34" charset="-120"/>
              </a:rPr>
              <a:t>6</a:t>
            </a:r>
            <a:endParaRPr lang="en-US" sz="1500" dirty="0"/>
          </a:p>
        </p:txBody>
      </p:sp>
      <p:sp>
        <p:nvSpPr>
          <p:cNvPr id="26" name="Text 24"/>
          <p:cNvSpPr/>
          <p:nvPr/>
        </p:nvSpPr>
        <p:spPr>
          <a:xfrm>
            <a:off x="8623300" y="3558449"/>
            <a:ext cx="211415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Remove bad rows</a:t>
            </a:r>
            <a:endParaRPr lang="en-US" sz="1600" dirty="0"/>
          </a:p>
        </p:txBody>
      </p:sp>
      <p:sp>
        <p:nvSpPr>
          <p:cNvPr id="27" name="Text 25"/>
          <p:cNvSpPr/>
          <p:nvPr/>
        </p:nvSpPr>
        <p:spPr>
          <a:xfrm>
            <a:off x="8166100" y="3967361"/>
            <a:ext cx="309583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Dropped 13 rides with zero or negative length.</a:t>
            </a:r>
            <a:endParaRPr lang="en-US" sz="1300" dirty="0"/>
          </a:p>
        </p:txBody>
      </p:sp>
      <p:sp>
        <p:nvSpPr>
          <p:cNvPr id="28" name="Text 26"/>
          <p:cNvSpPr/>
          <p:nvPr/>
        </p:nvSpPr>
        <p:spPr>
          <a:xfrm>
            <a:off x="812800" y="4891025"/>
            <a:ext cx="10566400" cy="640027"/>
          </a:xfrm>
          <a:prstGeom prst="roundRect">
            <a:avLst>
              <a:gd name="adj" fmla="val 19843"/>
            </a:avLst>
          </a:prstGeom>
          <a:solidFill>
            <a:srgbClr val="0E2A34"/>
          </a:solidFill>
          <a:ln/>
        </p:spPr>
        <p:txBody>
          <a:bodyPr wrap="square" lIns="216803" tIns="140603" rIns="0" bIns="115203" rtlCol="0" anchor="t">
            <a:normAutofit/>
          </a:bodyPr>
          <a:lstStyle/>
          <a:p>
            <a:pPr marL="0" indent="0" algn="l">
              <a:lnSpc>
                <a:spcPts val="2240"/>
              </a:lnSpc>
              <a:buNone/>
            </a:pPr>
            <a:r>
              <a:rPr lang="en-US" sz="1600" b="1" dirty="0">
                <a:solidFill>
                  <a:srgbClr val="F5F3EC"/>
                </a:solidFill>
                <a:latin typeface="Plus Jakarta Sans" pitchFamily="34" charset="0"/>
                <a:ea typeface="Plus Jakarta Sans" pitchFamily="34" charset="-122"/>
                <a:cs typeface="Plus Jakarta Sans" pitchFamily="34" charset="-120"/>
              </a:rPr>
              <a:t>Result: 3,817,991 trips ready for analysis. Rides over 24 hours were reviewed but kept.</a:t>
            </a:r>
            <a:endParaRPr lang="en-US" sz="16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ANALYSIS</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How we measured</a:t>
            </a:r>
            <a:endParaRPr lang="en-US" sz="3200" dirty="0"/>
          </a:p>
        </p:txBody>
      </p:sp>
      <p:sp>
        <p:nvSpPr>
          <p:cNvPr id="4" name="Shape 2"/>
          <p:cNvSpPr/>
          <p:nvPr/>
        </p:nvSpPr>
        <p:spPr>
          <a:xfrm>
            <a:off x="815975" y="1844613"/>
            <a:ext cx="3380317" cy="1988344"/>
          </a:xfrm>
          <a:prstGeom prst="roundRect">
            <a:avLst>
              <a:gd name="adj" fmla="val 6228"/>
            </a:avLst>
          </a:prstGeom>
          <a:solidFill>
            <a:srgbClr val="FCFBF7"/>
          </a:solidFill>
          <a:ln w="6350">
            <a:solidFill>
              <a:srgbClr val="DCD8CC"/>
            </a:solidFill>
            <a:prstDash val="solid"/>
          </a:ln>
        </p:spPr>
      </p:sp>
      <p:sp>
        <p:nvSpPr>
          <p:cNvPr id="5" name="Text 3"/>
          <p:cNvSpPr/>
          <p:nvPr/>
        </p:nvSpPr>
        <p:spPr>
          <a:xfrm>
            <a:off x="1071033" y="2099667"/>
            <a:ext cx="2956306"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4510C"/>
                </a:solidFill>
                <a:latin typeface="Plus Jakarta Sans" pitchFamily="34" charset="0"/>
                <a:ea typeface="Plus Jakarta Sans" pitchFamily="34" charset="-122"/>
                <a:cs typeface="Plus Jakarta Sans" pitchFamily="34" charset="-120"/>
              </a:rPr>
              <a:t>1</a:t>
            </a:r>
            <a:endParaRPr lang="en-US" sz="3600" dirty="0"/>
          </a:p>
        </p:txBody>
      </p:sp>
      <p:sp>
        <p:nvSpPr>
          <p:cNvPr id="6" name="Text 4"/>
          <p:cNvSpPr/>
          <p:nvPr/>
        </p:nvSpPr>
        <p:spPr>
          <a:xfrm>
            <a:off x="1071033" y="2678776"/>
            <a:ext cx="2956306"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4262D"/>
                </a:solidFill>
                <a:latin typeface="Plus Jakarta Sans" pitchFamily="34" charset="0"/>
                <a:ea typeface="Plus Jakarta Sans" pitchFamily="34" charset="-122"/>
                <a:cs typeface="Plus Jakarta Sans" pitchFamily="34" charset="-120"/>
              </a:rPr>
              <a:t>Who rides</a:t>
            </a:r>
            <a:endParaRPr lang="en-US" sz="1900" dirty="0"/>
          </a:p>
        </p:txBody>
      </p:sp>
      <p:sp>
        <p:nvSpPr>
          <p:cNvPr id="7" name="Text 5"/>
          <p:cNvSpPr/>
          <p:nvPr/>
        </p:nvSpPr>
        <p:spPr>
          <a:xfrm>
            <a:off x="1071033" y="3044496"/>
            <a:ext cx="295630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66870"/>
                </a:solidFill>
                <a:latin typeface="Plus Jakarta Sans" pitchFamily="34" charset="0"/>
                <a:ea typeface="Plus Jakarta Sans" pitchFamily="34" charset="-122"/>
                <a:cs typeface="Plus Jakarta Sans" pitchFamily="34" charset="-120"/>
              </a:rPr>
              <a:t>Ride counts by customer type.</a:t>
            </a:r>
            <a:endParaRPr lang="en-US" sz="1500" dirty="0"/>
          </a:p>
        </p:txBody>
      </p:sp>
      <p:sp>
        <p:nvSpPr>
          <p:cNvPr id="8" name="Shape 6"/>
          <p:cNvSpPr/>
          <p:nvPr/>
        </p:nvSpPr>
        <p:spPr>
          <a:xfrm>
            <a:off x="4405842" y="1844613"/>
            <a:ext cx="3380317" cy="1988344"/>
          </a:xfrm>
          <a:prstGeom prst="roundRect">
            <a:avLst>
              <a:gd name="adj" fmla="val 6228"/>
            </a:avLst>
          </a:prstGeom>
          <a:solidFill>
            <a:srgbClr val="FCFBF7"/>
          </a:solidFill>
          <a:ln w="6350">
            <a:solidFill>
              <a:srgbClr val="DCD8CC"/>
            </a:solidFill>
            <a:prstDash val="solid"/>
          </a:ln>
        </p:spPr>
      </p:sp>
      <p:sp>
        <p:nvSpPr>
          <p:cNvPr id="9" name="Text 7"/>
          <p:cNvSpPr/>
          <p:nvPr/>
        </p:nvSpPr>
        <p:spPr>
          <a:xfrm>
            <a:off x="4660900" y="2099667"/>
            <a:ext cx="2956306"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4510C"/>
                </a:solidFill>
                <a:latin typeface="Plus Jakarta Sans" pitchFamily="34" charset="0"/>
                <a:ea typeface="Plus Jakarta Sans" pitchFamily="34" charset="-122"/>
                <a:cs typeface="Plus Jakarta Sans" pitchFamily="34" charset="-120"/>
              </a:rPr>
              <a:t>2</a:t>
            </a:r>
            <a:endParaRPr lang="en-US" sz="3600" dirty="0"/>
          </a:p>
        </p:txBody>
      </p:sp>
      <p:sp>
        <p:nvSpPr>
          <p:cNvPr id="10" name="Text 8"/>
          <p:cNvSpPr/>
          <p:nvPr/>
        </p:nvSpPr>
        <p:spPr>
          <a:xfrm>
            <a:off x="4660900" y="2678776"/>
            <a:ext cx="2956306"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4262D"/>
                </a:solidFill>
                <a:latin typeface="Plus Jakarta Sans" pitchFamily="34" charset="0"/>
                <a:ea typeface="Plus Jakarta Sans" pitchFamily="34" charset="-122"/>
                <a:cs typeface="Plus Jakarta Sans" pitchFamily="34" charset="-120"/>
              </a:rPr>
              <a:t>When they ride</a:t>
            </a:r>
            <a:endParaRPr lang="en-US" sz="1900" dirty="0"/>
          </a:p>
        </p:txBody>
      </p:sp>
      <p:sp>
        <p:nvSpPr>
          <p:cNvPr id="11" name="Text 9"/>
          <p:cNvSpPr/>
          <p:nvPr/>
        </p:nvSpPr>
        <p:spPr>
          <a:xfrm>
            <a:off x="4660900" y="3044496"/>
            <a:ext cx="295630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66870"/>
                </a:solidFill>
                <a:latin typeface="Plus Jakarta Sans" pitchFamily="34" charset="0"/>
                <a:ea typeface="Plus Jakarta Sans" pitchFamily="34" charset="-122"/>
                <a:cs typeface="Plus Jakarta Sans" pitchFamily="34" charset="-120"/>
              </a:rPr>
              <a:t>Day of week, and weekday versus weekend share.</a:t>
            </a:r>
            <a:endParaRPr lang="en-US" sz="1500" dirty="0"/>
          </a:p>
        </p:txBody>
      </p:sp>
      <p:sp>
        <p:nvSpPr>
          <p:cNvPr id="12" name="Shape 10"/>
          <p:cNvSpPr/>
          <p:nvPr/>
        </p:nvSpPr>
        <p:spPr>
          <a:xfrm>
            <a:off x="7995709" y="1844613"/>
            <a:ext cx="3380317" cy="1988344"/>
          </a:xfrm>
          <a:prstGeom prst="roundRect">
            <a:avLst>
              <a:gd name="adj" fmla="val 6228"/>
            </a:avLst>
          </a:prstGeom>
          <a:solidFill>
            <a:srgbClr val="FCFBF7"/>
          </a:solidFill>
          <a:ln w="6350">
            <a:solidFill>
              <a:srgbClr val="DCD8CC"/>
            </a:solidFill>
            <a:prstDash val="solid"/>
          </a:ln>
        </p:spPr>
      </p:sp>
      <p:sp>
        <p:nvSpPr>
          <p:cNvPr id="13" name="Text 11"/>
          <p:cNvSpPr/>
          <p:nvPr/>
        </p:nvSpPr>
        <p:spPr>
          <a:xfrm>
            <a:off x="8250767" y="2099667"/>
            <a:ext cx="2956306"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4510C"/>
                </a:solidFill>
                <a:latin typeface="Plus Jakarta Sans" pitchFamily="34" charset="0"/>
                <a:ea typeface="Plus Jakarta Sans" pitchFamily="34" charset="-122"/>
                <a:cs typeface="Plus Jakarta Sans" pitchFamily="34" charset="-120"/>
              </a:rPr>
              <a:t>3</a:t>
            </a:r>
            <a:endParaRPr lang="en-US" sz="3600" dirty="0"/>
          </a:p>
        </p:txBody>
      </p:sp>
      <p:sp>
        <p:nvSpPr>
          <p:cNvPr id="14" name="Text 12"/>
          <p:cNvSpPr/>
          <p:nvPr/>
        </p:nvSpPr>
        <p:spPr>
          <a:xfrm>
            <a:off x="8250767" y="2678776"/>
            <a:ext cx="2956306" cy="31492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14262D"/>
                </a:solidFill>
                <a:latin typeface="Plus Jakarta Sans" pitchFamily="34" charset="0"/>
                <a:ea typeface="Plus Jakarta Sans" pitchFamily="34" charset="-122"/>
                <a:cs typeface="Plus Jakarta Sans" pitchFamily="34" charset="-120"/>
              </a:rPr>
              <a:t>How long they ride</a:t>
            </a:r>
            <a:endParaRPr lang="en-US" sz="1900" dirty="0"/>
          </a:p>
        </p:txBody>
      </p:sp>
      <p:sp>
        <p:nvSpPr>
          <p:cNvPr id="15" name="Text 13"/>
          <p:cNvSpPr/>
          <p:nvPr/>
        </p:nvSpPr>
        <p:spPr>
          <a:xfrm>
            <a:off x="8250767" y="3044496"/>
            <a:ext cx="295630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66870"/>
                </a:solidFill>
                <a:latin typeface="Plus Jakarta Sans" pitchFamily="34" charset="0"/>
                <a:ea typeface="Plus Jakarta Sans" pitchFamily="34" charset="-122"/>
                <a:cs typeface="Plus Jakarta Sans" pitchFamily="34" charset="-120"/>
              </a:rPr>
              <a:t>Mean and median ride length in minutes.</a:t>
            </a:r>
            <a:endParaRPr lang="en-US" sz="1500" dirty="0"/>
          </a:p>
        </p:txBody>
      </p:sp>
      <p:sp>
        <p:nvSpPr>
          <p:cNvPr id="16" name="Text 14"/>
          <p:cNvSpPr/>
          <p:nvPr/>
        </p:nvSpPr>
        <p:spPr>
          <a:xfrm>
            <a:off x="815975" y="4093307"/>
            <a:ext cx="10560050" cy="855530"/>
          </a:xfrm>
          <a:prstGeom prst="roundRect">
            <a:avLst>
              <a:gd name="adj" fmla="val 14473"/>
            </a:avLst>
          </a:prstGeom>
          <a:solidFill>
            <a:srgbClr val="FCFBF7"/>
          </a:solidFill>
          <a:ln w="6350">
            <a:solidFill>
              <a:srgbClr val="DCD8CC"/>
            </a:solidFill>
            <a:prstDash val="solid"/>
          </a:ln>
        </p:spPr>
        <p:txBody>
          <a:bodyPr wrap="square" lIns="218791" tIns="142591" rIns="0" bIns="117191"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Tools: Python with pandas and matplotlib in Jupyter Notebook. The mean shows total riding effort; the median shows a typical ride.</a:t>
            </a:r>
            <a:endParaRPr lang="en-US" sz="14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A34"/>
        </a:solidFill>
        <a:effectLst/>
      </p:bgPr>
    </p:bg>
    <p:spTree>
      <p:nvGrpSpPr>
        <p:cNvPr id="1" name=""/>
        <p:cNvGrpSpPr/>
        <p:nvPr/>
      </p:nvGrpSpPr>
      <p:grpSpPr>
        <a:xfrm>
          <a:off x="0" y="0"/>
          <a:ext cx="0" cy="0"/>
          <a:chOff x="0" y="0"/>
          <a:chExt cx="0" cy="0"/>
        </a:xfrm>
      </p:grpSpPr>
      <p:sp>
        <p:nvSpPr>
          <p:cNvPr id="2" name="Text 0"/>
          <p:cNvSpPr/>
          <p:nvPr/>
        </p:nvSpPr>
        <p:spPr>
          <a:xfrm>
            <a:off x="812800" y="14795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A9BEC6"/>
                </a:solidFill>
                <a:latin typeface="Plus Jakarta Sans" pitchFamily="34" charset="0"/>
                <a:ea typeface="Plus Jakarta Sans" pitchFamily="34" charset="-122"/>
                <a:cs typeface="Plus Jakarta Sans" pitchFamily="34" charset="-120"/>
              </a:rPr>
              <a:t>SECTION</a:t>
            </a:r>
            <a:endParaRPr lang="en-US" sz="1500" dirty="0"/>
          </a:p>
        </p:txBody>
      </p:sp>
      <p:sp>
        <p:nvSpPr>
          <p:cNvPr id="3" name="Text 1"/>
          <p:cNvSpPr/>
          <p:nvPr/>
        </p:nvSpPr>
        <p:spPr>
          <a:xfrm>
            <a:off x="812800" y="1873250"/>
            <a:ext cx="10883392" cy="1930400"/>
          </a:xfrm>
          <a:prstGeom prst="rect">
            <a:avLst/>
          </a:prstGeom>
          <a:noFill/>
          <a:ln/>
        </p:spPr>
        <p:txBody>
          <a:bodyPr wrap="square" lIns="0" tIns="0" rIns="0" bIns="0" rtlCol="0" anchor="t">
            <a:normAutofit/>
          </a:bodyPr>
          <a:lstStyle/>
          <a:p>
            <a:pPr marL="0" indent="0" algn="l">
              <a:lnSpc>
                <a:spcPts val="15000"/>
              </a:lnSpc>
              <a:buNone/>
            </a:pPr>
            <a:r>
              <a:rPr lang="en-US" sz="15000" b="1" dirty="0">
                <a:solidFill>
                  <a:srgbClr val="F29A55"/>
                </a:solidFill>
                <a:latin typeface="Plus Jakarta Sans" pitchFamily="34" charset="0"/>
                <a:ea typeface="Plus Jakarta Sans" pitchFamily="34" charset="-122"/>
                <a:cs typeface="Plus Jakarta Sans" pitchFamily="34" charset="-120"/>
              </a:rPr>
              <a:t>03</a:t>
            </a:r>
            <a:endParaRPr lang="en-US" sz="15000" dirty="0"/>
          </a:p>
        </p:txBody>
      </p:sp>
      <p:sp>
        <p:nvSpPr>
          <p:cNvPr id="4" name="Text 2"/>
          <p:cNvSpPr>
            <a:spLocks noGrp="1"/>
          </p:cNvSpPr>
          <p:nvPr>
            <p:ph type="title"/>
          </p:nvPr>
        </p:nvSpPr>
        <p:spPr>
          <a:xfrm>
            <a:off x="812800" y="3905250"/>
            <a:ext cx="6540500"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3EC"/>
                </a:solidFill>
                <a:latin typeface="Plus Jakarta Sans" pitchFamily="34" charset="0"/>
                <a:ea typeface="Plus Jakarta Sans" pitchFamily="34" charset="-122"/>
                <a:cs typeface="Plus Jakarta Sans" pitchFamily="34" charset="-120"/>
              </a:rPr>
              <a:t>Problem</a:t>
            </a:r>
            <a:endParaRPr lang="en-US" sz="4800" dirty="0"/>
          </a:p>
        </p:txBody>
      </p:sp>
      <p:sp>
        <p:nvSpPr>
          <p:cNvPr id="5" name="Text 3"/>
          <p:cNvSpPr/>
          <p:nvPr/>
        </p:nvSpPr>
        <p:spPr>
          <a:xfrm>
            <a:off x="812800" y="4702770"/>
            <a:ext cx="6540500" cy="701014"/>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A9BEC6"/>
                </a:solidFill>
                <a:latin typeface="Plus Jakarta Sans" pitchFamily="34" charset="0"/>
                <a:ea typeface="Plus Jakarta Sans" pitchFamily="34" charset="-122"/>
                <a:cs typeface="Plus Jakarta Sans" pitchFamily="34" charset="-120"/>
              </a:rPr>
              <a:t>Members and casual riders use the same bikes on different days and for different lengths of time.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PROBLEM</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Who rides: members vs. casual riders</a:t>
            </a:r>
            <a:endParaRPr lang="en-US" sz="3200" dirty="0"/>
          </a:p>
        </p:txBody>
      </p:sp>
      <p:sp>
        <p:nvSpPr>
          <p:cNvPr id="4" name="Text 2"/>
          <p:cNvSpPr/>
          <p:nvPr/>
        </p:nvSpPr>
        <p:spPr>
          <a:xfrm>
            <a:off x="812800" y="1841438"/>
            <a:ext cx="7855148" cy="812800"/>
          </a:xfrm>
          <a:custGeom>
            <a:avLst/>
            <a:gdLst/>
            <a:ahLst/>
            <a:cxnLst/>
            <a:rect l="l" t="t" r="r" b="b"/>
            <a:pathLst>
              <a:path w="7855148" h="812800">
                <a:moveTo>
                  <a:pt x="127000" y="0"/>
                </a:moveTo>
                <a:lnTo>
                  <a:pt x="7855148" y="0"/>
                </a:lnTo>
                <a:lnTo>
                  <a:pt x="7855148" y="812800"/>
                </a:lnTo>
                <a:lnTo>
                  <a:pt x="127000" y="812800"/>
                </a:lnTo>
                <a:arcTo wR="127000" hR="127000" stAng="5400000" swAng="5400000"/>
                <a:lnTo>
                  <a:pt x="0" y="127000"/>
                </a:lnTo>
                <a:arcTo wR="127000" hR="127000" stAng="10800000" swAng="5400000"/>
                <a:close/>
              </a:path>
            </a:pathLst>
          </a:custGeom>
          <a:solidFill>
            <a:srgbClr val="1F6F85"/>
          </a:solidFill>
          <a:ln/>
        </p:spPr>
        <p:txBody>
          <a:bodyPr wrap="square" lIns="254000" tIns="228600" rIns="33586" bIns="203200" rtlCol="0" anchor="t">
            <a:normAutofit/>
          </a:bodyPr>
          <a:lstStyle/>
          <a:p>
            <a:pPr marL="0" indent="0" algn="l">
              <a:lnSpc>
                <a:spcPts val="2800"/>
              </a:lnSpc>
              <a:buNone/>
            </a:pPr>
            <a:r>
              <a:rPr lang="en-US" sz="2000" b="1" dirty="0">
                <a:solidFill>
                  <a:srgbClr val="F5F3EC"/>
                </a:solidFill>
                <a:latin typeface="Plus Jakarta Sans" pitchFamily="34" charset="0"/>
                <a:ea typeface="Plus Jakarta Sans" pitchFamily="34" charset="-122"/>
                <a:cs typeface="Plus Jakarta Sans" pitchFamily="34" charset="-120"/>
              </a:rPr>
              <a:t>Members 76.9%</a:t>
            </a:r>
            <a:endParaRPr lang="en-US" sz="2000" dirty="0"/>
          </a:p>
        </p:txBody>
      </p:sp>
      <p:sp>
        <p:nvSpPr>
          <p:cNvPr id="5" name="Text 3"/>
          <p:cNvSpPr/>
          <p:nvPr/>
        </p:nvSpPr>
        <p:spPr>
          <a:xfrm>
            <a:off x="8667948" y="1841438"/>
            <a:ext cx="2711252" cy="812800"/>
          </a:xfrm>
          <a:custGeom>
            <a:avLst/>
            <a:gdLst/>
            <a:ahLst/>
            <a:cxnLst/>
            <a:rect l="l" t="t" r="r" b="b"/>
            <a:pathLst>
              <a:path w="2711252" h="812800">
                <a:moveTo>
                  <a:pt x="0" y="0"/>
                </a:moveTo>
                <a:lnTo>
                  <a:pt x="2584252" y="0"/>
                </a:lnTo>
                <a:arcTo wR="127000" hR="127000" stAng="16200000" swAng="5400000"/>
                <a:lnTo>
                  <a:pt x="2711252" y="685800"/>
                </a:lnTo>
                <a:arcTo wR="127000" hR="127000" stAng="0" swAng="5400000"/>
                <a:lnTo>
                  <a:pt x="0" y="812800"/>
                </a:lnTo>
                <a:lnTo>
                  <a:pt x="0" y="0"/>
                </a:lnTo>
                <a:close/>
              </a:path>
            </a:pathLst>
          </a:custGeom>
          <a:solidFill>
            <a:srgbClr val="E8833A"/>
          </a:solidFill>
          <a:ln/>
        </p:spPr>
        <p:txBody>
          <a:bodyPr wrap="square" lIns="254000" tIns="228600" rIns="187902" bIns="203200" rtlCol="0" anchor="t">
            <a:normAutofit/>
          </a:bodyPr>
          <a:lstStyle/>
          <a:p>
            <a:pPr marL="0" indent="0" algn="l">
              <a:lnSpc>
                <a:spcPts val="2800"/>
              </a:lnSpc>
              <a:buNone/>
            </a:pPr>
            <a:r>
              <a:rPr lang="en-US" sz="2000" b="1" dirty="0">
                <a:solidFill>
                  <a:srgbClr val="14262D"/>
                </a:solidFill>
                <a:latin typeface="Plus Jakarta Sans" pitchFamily="34" charset="0"/>
                <a:ea typeface="Plus Jakarta Sans" pitchFamily="34" charset="-122"/>
                <a:cs typeface="Plus Jakarta Sans" pitchFamily="34" charset="-120"/>
              </a:rPr>
              <a:t>Casual 23.1%</a:t>
            </a:r>
            <a:endParaRPr lang="en-US" sz="2000" dirty="0"/>
          </a:p>
        </p:txBody>
      </p:sp>
      <p:sp>
        <p:nvSpPr>
          <p:cNvPr id="6" name="Shape 4"/>
          <p:cNvSpPr/>
          <p:nvPr/>
        </p:nvSpPr>
        <p:spPr>
          <a:xfrm>
            <a:off x="815975" y="2911413"/>
            <a:ext cx="5175250" cy="1368623"/>
          </a:xfrm>
          <a:prstGeom prst="roundRect">
            <a:avLst>
              <a:gd name="adj" fmla="val 9047"/>
            </a:avLst>
          </a:prstGeom>
          <a:solidFill>
            <a:srgbClr val="FCFBF7"/>
          </a:solidFill>
          <a:ln w="6350">
            <a:solidFill>
              <a:srgbClr val="DCD8CC"/>
            </a:solidFill>
            <a:prstDash val="solid"/>
          </a:ln>
        </p:spPr>
      </p:sp>
      <p:sp>
        <p:nvSpPr>
          <p:cNvPr id="7" name="Text 5"/>
          <p:cNvSpPr/>
          <p:nvPr/>
        </p:nvSpPr>
        <p:spPr>
          <a:xfrm>
            <a:off x="1071033" y="3166467"/>
            <a:ext cx="480508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870"/>
                </a:solidFill>
                <a:latin typeface="Plus Jakarta Sans" pitchFamily="34" charset="0"/>
                <a:ea typeface="Plus Jakarta Sans" pitchFamily="34" charset="-122"/>
                <a:cs typeface="Plus Jakarta Sans" pitchFamily="34" charset="-120"/>
              </a:rPr>
              <a:t>Member rides</a:t>
            </a:r>
            <a:endParaRPr lang="en-US" sz="1400" dirty="0"/>
          </a:p>
        </p:txBody>
      </p:sp>
      <p:sp>
        <p:nvSpPr>
          <p:cNvPr id="8" name="Text 6"/>
          <p:cNvSpPr/>
          <p:nvPr/>
        </p:nvSpPr>
        <p:spPr>
          <a:xfrm>
            <a:off x="1071033" y="3466176"/>
            <a:ext cx="4805087"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F6F85"/>
                </a:solidFill>
                <a:latin typeface="Plus Jakarta Sans" pitchFamily="34" charset="0"/>
                <a:ea typeface="Plus Jakarta Sans" pitchFamily="34" charset="-122"/>
                <a:cs typeface="Plus Jakarta Sans" pitchFamily="34" charset="-120"/>
              </a:rPr>
              <a:t>2,937,360</a:t>
            </a:r>
            <a:endParaRPr lang="en-US" sz="4000" dirty="0"/>
          </a:p>
        </p:txBody>
      </p:sp>
      <p:sp>
        <p:nvSpPr>
          <p:cNvPr id="9" name="Shape 7"/>
          <p:cNvSpPr/>
          <p:nvPr/>
        </p:nvSpPr>
        <p:spPr>
          <a:xfrm>
            <a:off x="6200775" y="2911413"/>
            <a:ext cx="5175250" cy="1368623"/>
          </a:xfrm>
          <a:prstGeom prst="roundRect">
            <a:avLst>
              <a:gd name="adj" fmla="val 9047"/>
            </a:avLst>
          </a:prstGeom>
          <a:solidFill>
            <a:srgbClr val="FCFBF7"/>
          </a:solidFill>
          <a:ln w="6350">
            <a:solidFill>
              <a:srgbClr val="DCD8CC"/>
            </a:solidFill>
            <a:prstDash val="solid"/>
          </a:ln>
        </p:spPr>
      </p:sp>
      <p:sp>
        <p:nvSpPr>
          <p:cNvPr id="10" name="Text 8"/>
          <p:cNvSpPr/>
          <p:nvPr/>
        </p:nvSpPr>
        <p:spPr>
          <a:xfrm>
            <a:off x="6455833" y="3166467"/>
            <a:ext cx="480508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870"/>
                </a:solidFill>
                <a:latin typeface="Plus Jakarta Sans" pitchFamily="34" charset="0"/>
                <a:ea typeface="Plus Jakarta Sans" pitchFamily="34" charset="-122"/>
                <a:cs typeface="Plus Jakarta Sans" pitchFamily="34" charset="-120"/>
              </a:rPr>
              <a:t>Casual rides</a:t>
            </a:r>
            <a:endParaRPr lang="en-US" sz="1400" dirty="0"/>
          </a:p>
        </p:txBody>
      </p:sp>
      <p:sp>
        <p:nvSpPr>
          <p:cNvPr id="11" name="Text 9"/>
          <p:cNvSpPr/>
          <p:nvPr/>
        </p:nvSpPr>
        <p:spPr>
          <a:xfrm>
            <a:off x="6455833" y="3466176"/>
            <a:ext cx="4805087"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B4510C"/>
                </a:solidFill>
                <a:latin typeface="Plus Jakarta Sans" pitchFamily="34" charset="0"/>
                <a:ea typeface="Plus Jakarta Sans" pitchFamily="34" charset="-122"/>
                <a:cs typeface="Plus Jakarta Sans" pitchFamily="34" charset="-120"/>
              </a:rPr>
              <a:t>880,631</a:t>
            </a:r>
            <a:endParaRPr lang="en-US" sz="4000" dirty="0"/>
          </a:p>
        </p:txBody>
      </p:sp>
      <p:sp>
        <p:nvSpPr>
          <p:cNvPr id="12" name="Text 10"/>
          <p:cNvSpPr/>
          <p:nvPr/>
        </p:nvSpPr>
        <p:spPr>
          <a:xfrm>
            <a:off x="812800" y="4537211"/>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62D"/>
                </a:solidFill>
                <a:latin typeface="Plus Jakarta Sans" pitchFamily="34" charset="0"/>
                <a:ea typeface="Plus Jakarta Sans" pitchFamily="34" charset="-122"/>
                <a:cs typeface="Plus Jakarta Sans" pitchFamily="34" charset="-120"/>
              </a:rPr>
              <a:t>About three of every four rides already come from members. Casual riders are the smaller group.</a:t>
            </a:r>
            <a:endParaRPr lang="en-US" sz="16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PROBLEM</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Weekday and weekend riding</a:t>
            </a:r>
            <a:endParaRPr lang="en-US" sz="3200" dirty="0"/>
          </a:p>
        </p:txBody>
      </p:sp>
      <p:sp>
        <p:nvSpPr>
          <p:cNvPr id="4" name="Text 2"/>
          <p:cNvSpPr/>
          <p:nvPr/>
        </p:nvSpPr>
        <p:spPr>
          <a:xfrm>
            <a:off x="812800" y="1841438"/>
            <a:ext cx="331205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870"/>
                </a:solidFill>
                <a:latin typeface="Plus Jakarta Sans" pitchFamily="34" charset="0"/>
                <a:ea typeface="Plus Jakarta Sans" pitchFamily="34" charset="-122"/>
                <a:cs typeface="Plus Jakarta Sans" pitchFamily="34" charset="-120"/>
              </a:rPr>
              <a:t>Share of each customer type's rides:</a:t>
            </a:r>
            <a:endParaRPr lang="en-US" sz="1400" dirty="0"/>
          </a:p>
        </p:txBody>
      </p:sp>
      <p:sp>
        <p:nvSpPr>
          <p:cNvPr id="5" name="Shape 3"/>
          <p:cNvSpPr/>
          <p:nvPr/>
        </p:nvSpPr>
        <p:spPr>
          <a:xfrm>
            <a:off x="4124854" y="1876958"/>
            <a:ext cx="177800" cy="177800"/>
          </a:xfrm>
          <a:prstGeom prst="roundRect">
            <a:avLst>
              <a:gd name="adj" fmla="val 21429"/>
            </a:avLst>
          </a:prstGeom>
          <a:solidFill>
            <a:srgbClr val="4A6B78"/>
          </a:solidFill>
          <a:ln/>
        </p:spPr>
      </p:sp>
      <p:sp>
        <p:nvSpPr>
          <p:cNvPr id="6" name="Text 4"/>
          <p:cNvSpPr/>
          <p:nvPr/>
        </p:nvSpPr>
        <p:spPr>
          <a:xfrm>
            <a:off x="4378854" y="1841438"/>
            <a:ext cx="96686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Weekday</a:t>
            </a:r>
            <a:endParaRPr lang="en-US" sz="1400" dirty="0"/>
          </a:p>
        </p:txBody>
      </p:sp>
      <p:sp>
        <p:nvSpPr>
          <p:cNvPr id="7" name="Shape 5"/>
          <p:cNvSpPr/>
          <p:nvPr/>
        </p:nvSpPr>
        <p:spPr>
          <a:xfrm>
            <a:off x="5413177" y="1876958"/>
            <a:ext cx="177800" cy="177800"/>
          </a:xfrm>
          <a:prstGeom prst="roundRect">
            <a:avLst>
              <a:gd name="adj" fmla="val 21429"/>
            </a:avLst>
          </a:prstGeom>
          <a:solidFill>
            <a:srgbClr val="E8833A"/>
          </a:solidFill>
          <a:ln/>
        </p:spPr>
      </p:sp>
      <p:sp>
        <p:nvSpPr>
          <p:cNvPr id="8" name="Text 6"/>
          <p:cNvSpPr/>
          <p:nvPr/>
        </p:nvSpPr>
        <p:spPr>
          <a:xfrm>
            <a:off x="5667177" y="1841438"/>
            <a:ext cx="98099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Weekend</a:t>
            </a:r>
            <a:endParaRPr lang="en-US" sz="1400" dirty="0"/>
          </a:p>
        </p:txBody>
      </p:sp>
      <p:sp>
        <p:nvSpPr>
          <p:cNvPr id="9" name="Text 7"/>
          <p:cNvSpPr/>
          <p:nvPr/>
        </p:nvSpPr>
        <p:spPr>
          <a:xfrm>
            <a:off x="812800" y="2595829"/>
            <a:ext cx="1320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Members</a:t>
            </a:r>
            <a:endParaRPr lang="en-US" sz="1600" dirty="0"/>
          </a:p>
        </p:txBody>
      </p:sp>
      <p:sp>
        <p:nvSpPr>
          <p:cNvPr id="10" name="Text 8"/>
          <p:cNvSpPr/>
          <p:nvPr/>
        </p:nvSpPr>
        <p:spPr>
          <a:xfrm>
            <a:off x="2260600" y="2344341"/>
            <a:ext cx="7175633" cy="787400"/>
          </a:xfrm>
          <a:custGeom>
            <a:avLst/>
            <a:gdLst/>
            <a:ahLst/>
            <a:cxnLst/>
            <a:rect l="l" t="t" r="r" b="b"/>
            <a:pathLst>
              <a:path w="7175633" h="787400">
                <a:moveTo>
                  <a:pt x="101600" y="0"/>
                </a:moveTo>
                <a:lnTo>
                  <a:pt x="7175633" y="0"/>
                </a:lnTo>
                <a:lnTo>
                  <a:pt x="7175633" y="787400"/>
                </a:lnTo>
                <a:lnTo>
                  <a:pt x="101600" y="787400"/>
                </a:lnTo>
                <a:arcTo wR="101600" hR="101600" stAng="5400000" swAng="5400000"/>
                <a:lnTo>
                  <a:pt x="0" y="101600"/>
                </a:lnTo>
                <a:arcTo wR="101600" hR="101600" stAng="10800000" swAng="5400000"/>
                <a:close/>
              </a:path>
            </a:pathLst>
          </a:custGeom>
          <a:solidFill>
            <a:srgbClr val="4A6B78"/>
          </a:solidFill>
          <a:ln/>
        </p:spPr>
        <p:txBody>
          <a:bodyPr wrap="square" lIns="203200" tIns="215900" rIns="123" bIns="190500" rtlCol="0" anchor="t">
            <a:normAutofit/>
          </a:bodyPr>
          <a:lstStyle/>
          <a:p>
            <a:pPr marL="0" indent="0" algn="l">
              <a:lnSpc>
                <a:spcPts val="2800"/>
              </a:lnSpc>
              <a:buNone/>
            </a:pPr>
            <a:r>
              <a:rPr lang="en-US" sz="2000" b="1" dirty="0">
                <a:solidFill>
                  <a:srgbClr val="F5F3EC"/>
                </a:solidFill>
                <a:latin typeface="Plus Jakarta Sans" pitchFamily="34" charset="0"/>
                <a:ea typeface="Plus Jakarta Sans" pitchFamily="34" charset="-122"/>
                <a:cs typeface="Plus Jakarta Sans" pitchFamily="34" charset="-120"/>
              </a:rPr>
              <a:t>81.5%</a:t>
            </a:r>
            <a:endParaRPr lang="en-US" sz="2000" dirty="0"/>
          </a:p>
        </p:txBody>
      </p:sp>
      <p:sp>
        <p:nvSpPr>
          <p:cNvPr id="11" name="Text 9"/>
          <p:cNvSpPr/>
          <p:nvPr/>
        </p:nvSpPr>
        <p:spPr>
          <a:xfrm>
            <a:off x="9436233" y="2344341"/>
            <a:ext cx="1942968" cy="787400"/>
          </a:xfrm>
          <a:custGeom>
            <a:avLst/>
            <a:gdLst/>
            <a:ahLst/>
            <a:cxnLst/>
            <a:rect l="l" t="t" r="r" b="b"/>
            <a:pathLst>
              <a:path w="1942968" h="787400">
                <a:moveTo>
                  <a:pt x="0" y="0"/>
                </a:moveTo>
                <a:lnTo>
                  <a:pt x="1841368" y="0"/>
                </a:lnTo>
                <a:arcTo wR="101600" hR="101600" stAng="16200000" swAng="5400000"/>
                <a:lnTo>
                  <a:pt x="1942968" y="685800"/>
                </a:lnTo>
                <a:arcTo wR="101600" hR="101600" stAng="0" swAng="5400000"/>
                <a:lnTo>
                  <a:pt x="0" y="787400"/>
                </a:lnTo>
                <a:lnTo>
                  <a:pt x="0" y="0"/>
                </a:lnTo>
                <a:close/>
              </a:path>
            </a:pathLst>
          </a:custGeom>
          <a:solidFill>
            <a:srgbClr val="E8833A"/>
          </a:solidFill>
          <a:ln/>
        </p:spPr>
        <p:txBody>
          <a:bodyPr wrap="square" lIns="203200" tIns="215900" rIns="152400" bIns="190500" rtlCol="0" anchor="t">
            <a:normAutofit/>
          </a:bodyPr>
          <a:lstStyle/>
          <a:p>
            <a:pPr marL="0" indent="0" algn="l">
              <a:lnSpc>
                <a:spcPts val="2800"/>
              </a:lnSpc>
              <a:buNone/>
            </a:pPr>
            <a:r>
              <a:rPr lang="en-US" sz="2000" b="1" dirty="0">
                <a:solidFill>
                  <a:srgbClr val="14262D"/>
                </a:solidFill>
                <a:latin typeface="Plus Jakarta Sans" pitchFamily="34" charset="0"/>
                <a:ea typeface="Plus Jakarta Sans" pitchFamily="34" charset="-122"/>
                <a:cs typeface="Plus Jakarta Sans" pitchFamily="34" charset="-120"/>
              </a:rPr>
              <a:t>18.5%</a:t>
            </a:r>
            <a:endParaRPr lang="en-US" sz="2000" dirty="0"/>
          </a:p>
        </p:txBody>
      </p:sp>
      <p:sp>
        <p:nvSpPr>
          <p:cNvPr id="12" name="Text 10"/>
          <p:cNvSpPr/>
          <p:nvPr/>
        </p:nvSpPr>
        <p:spPr>
          <a:xfrm>
            <a:off x="812800" y="3637229"/>
            <a:ext cx="1320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Casual</a:t>
            </a:r>
            <a:endParaRPr lang="en-US" sz="1600" dirty="0"/>
          </a:p>
        </p:txBody>
      </p:sp>
      <p:sp>
        <p:nvSpPr>
          <p:cNvPr id="13" name="Text 11"/>
          <p:cNvSpPr/>
          <p:nvPr/>
        </p:nvSpPr>
        <p:spPr>
          <a:xfrm>
            <a:off x="2260600" y="3385741"/>
            <a:ext cx="5148990" cy="787400"/>
          </a:xfrm>
          <a:custGeom>
            <a:avLst/>
            <a:gdLst/>
            <a:ahLst/>
            <a:cxnLst/>
            <a:rect l="l" t="t" r="r" b="b"/>
            <a:pathLst>
              <a:path w="5148990" h="787400">
                <a:moveTo>
                  <a:pt x="101600" y="0"/>
                </a:moveTo>
                <a:lnTo>
                  <a:pt x="5148990" y="0"/>
                </a:lnTo>
                <a:lnTo>
                  <a:pt x="5148990" y="787400"/>
                </a:lnTo>
                <a:lnTo>
                  <a:pt x="101600" y="787400"/>
                </a:lnTo>
                <a:arcTo wR="101600" hR="101600" stAng="5400000" swAng="5400000"/>
                <a:lnTo>
                  <a:pt x="0" y="101600"/>
                </a:lnTo>
                <a:arcTo wR="101600" hR="101600" stAng="10800000" swAng="5400000"/>
                <a:close/>
              </a:path>
            </a:pathLst>
          </a:custGeom>
          <a:solidFill>
            <a:srgbClr val="4A6B78"/>
          </a:solidFill>
          <a:ln/>
        </p:spPr>
        <p:txBody>
          <a:bodyPr wrap="square" lIns="203200" tIns="215900" rIns="60922" bIns="190500" rtlCol="0" anchor="t">
            <a:normAutofit/>
          </a:bodyPr>
          <a:lstStyle/>
          <a:p>
            <a:pPr marL="0" indent="0" algn="l">
              <a:lnSpc>
                <a:spcPts val="2800"/>
              </a:lnSpc>
              <a:buNone/>
            </a:pPr>
            <a:r>
              <a:rPr lang="en-US" sz="2000" b="1" dirty="0">
                <a:solidFill>
                  <a:srgbClr val="F5F3EC"/>
                </a:solidFill>
                <a:latin typeface="Plus Jakarta Sans" pitchFamily="34" charset="0"/>
                <a:ea typeface="Plus Jakarta Sans" pitchFamily="34" charset="-122"/>
                <a:cs typeface="Plus Jakarta Sans" pitchFamily="34" charset="-120"/>
              </a:rPr>
              <a:t>57.1%</a:t>
            </a:r>
            <a:endParaRPr lang="en-US" sz="2000" dirty="0"/>
          </a:p>
        </p:txBody>
      </p:sp>
      <p:sp>
        <p:nvSpPr>
          <p:cNvPr id="14" name="Text 12"/>
          <p:cNvSpPr/>
          <p:nvPr/>
        </p:nvSpPr>
        <p:spPr>
          <a:xfrm>
            <a:off x="7409590" y="3385741"/>
            <a:ext cx="3969610" cy="787400"/>
          </a:xfrm>
          <a:custGeom>
            <a:avLst/>
            <a:gdLst/>
            <a:ahLst/>
            <a:cxnLst/>
            <a:rect l="l" t="t" r="r" b="b"/>
            <a:pathLst>
              <a:path w="3969610" h="787400">
                <a:moveTo>
                  <a:pt x="0" y="0"/>
                </a:moveTo>
                <a:lnTo>
                  <a:pt x="3868010" y="0"/>
                </a:lnTo>
                <a:arcTo wR="101600" hR="101600" stAng="16200000" swAng="5400000"/>
                <a:lnTo>
                  <a:pt x="3969610" y="685800"/>
                </a:lnTo>
                <a:arcTo wR="101600" hR="101600" stAng="0" swAng="5400000"/>
                <a:lnTo>
                  <a:pt x="0" y="787400"/>
                </a:lnTo>
                <a:lnTo>
                  <a:pt x="0" y="0"/>
                </a:lnTo>
                <a:close/>
              </a:path>
            </a:pathLst>
          </a:custGeom>
          <a:solidFill>
            <a:srgbClr val="E8833A"/>
          </a:solidFill>
          <a:ln/>
        </p:spPr>
        <p:txBody>
          <a:bodyPr wrap="square" lIns="203200" tIns="215900" rIns="96304" bIns="190500" rtlCol="0" anchor="t">
            <a:normAutofit/>
          </a:bodyPr>
          <a:lstStyle/>
          <a:p>
            <a:pPr marL="0" indent="0" algn="l">
              <a:lnSpc>
                <a:spcPts val="2800"/>
              </a:lnSpc>
              <a:buNone/>
            </a:pPr>
            <a:r>
              <a:rPr lang="en-US" sz="2000" b="1" dirty="0">
                <a:solidFill>
                  <a:srgbClr val="14262D"/>
                </a:solidFill>
                <a:latin typeface="Plus Jakarta Sans" pitchFamily="34" charset="0"/>
                <a:ea typeface="Plus Jakarta Sans" pitchFamily="34" charset="-122"/>
                <a:cs typeface="Plus Jakarta Sans" pitchFamily="34" charset="-120"/>
              </a:rPr>
              <a:t>42.9%</a:t>
            </a:r>
            <a:endParaRPr lang="en-US" sz="2000" dirty="0"/>
          </a:p>
        </p:txBody>
      </p:sp>
      <p:sp>
        <p:nvSpPr>
          <p:cNvPr id="15" name="Text 13"/>
          <p:cNvSpPr/>
          <p:nvPr/>
        </p:nvSpPr>
        <p:spPr>
          <a:xfrm>
            <a:off x="812800" y="4427141"/>
            <a:ext cx="10566400" cy="1010841"/>
          </a:xfrm>
          <a:prstGeom prst="roundRect">
            <a:avLst>
              <a:gd name="adj" fmla="val 12564"/>
            </a:avLst>
          </a:prstGeom>
          <a:solidFill>
            <a:srgbClr val="0E2A34"/>
          </a:solidFill>
          <a:ln/>
        </p:spPr>
        <p:txBody>
          <a:bodyPr wrap="square" lIns="216803" tIns="166003" rIns="0" bIns="140603" rtlCol="0" anchor="t">
            <a:normAutofit/>
          </a:bodyPr>
          <a:lstStyle/>
          <a:p>
            <a:pPr marL="0" indent="0" algn="l">
              <a:lnSpc>
                <a:spcPts val="2380"/>
              </a:lnSpc>
              <a:buNone/>
            </a:pPr>
            <a:r>
              <a:rPr lang="en-US" sz="1700" b="1" dirty="0">
                <a:solidFill>
                  <a:srgbClr val="F5F3EC"/>
                </a:solidFill>
                <a:latin typeface="Plus Jakarta Sans" pitchFamily="34" charset="0"/>
                <a:ea typeface="Plus Jakarta Sans" pitchFamily="34" charset="-122"/>
                <a:cs typeface="Plus Jakarta Sans" pitchFamily="34" charset="-120"/>
              </a:rPr>
              <a:t>Casual riders take 43% of their rides on weekends, more than double the members share of 18.5%.</a:t>
            </a:r>
            <a:endParaRPr lang="en-US" sz="17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0891"/>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PROBLEM</a:t>
            </a:r>
            <a:endParaRPr lang="en-US" sz="1300" dirty="0"/>
          </a:p>
        </p:txBody>
      </p:sp>
      <p:sp>
        <p:nvSpPr>
          <p:cNvPr id="3" name="Text 1"/>
          <p:cNvSpPr>
            <a:spLocks noGrp="1"/>
          </p:cNvSpPr>
          <p:nvPr>
            <p:ph type="title"/>
          </p:nvPr>
        </p:nvSpPr>
        <p:spPr>
          <a:xfrm>
            <a:off x="812800" y="1114493"/>
            <a:ext cx="10883392" cy="481277"/>
          </a:xfrm>
          <a:prstGeom prst="rect">
            <a:avLst/>
          </a:prstGeom>
          <a:noFill/>
          <a:ln/>
        </p:spPr>
        <p:txBody>
          <a:bodyPr wrap="square" lIns="0" tIns="0" rIns="0" bIns="0" rtlCol="0" anchor="t">
            <a:normAutofit/>
          </a:bodyPr>
          <a:lstStyle/>
          <a:p>
            <a:pPr marL="0" indent="0" algn="l">
              <a:lnSpc>
                <a:spcPts val="3622"/>
              </a:lnSpc>
              <a:buNone/>
            </a:pPr>
            <a:r>
              <a:rPr lang="en-US" sz="3150" b="1" i="0" dirty="0">
                <a:solidFill>
                  <a:srgbClr val="14262D"/>
                </a:solidFill>
                <a:latin typeface="Plus Jakarta Sans" pitchFamily="34" charset="0"/>
                <a:ea typeface="Plus Jakarta Sans" pitchFamily="34" charset="-122"/>
                <a:cs typeface="Plus Jakarta Sans" pitchFamily="34" charset="-120"/>
              </a:rPr>
              <a:t>Rides by day of week</a:t>
            </a:r>
            <a:endParaRPr lang="en-US" sz="3150" dirty="0"/>
          </a:p>
        </p:txBody>
      </p:sp>
      <p:sp>
        <p:nvSpPr>
          <p:cNvPr id="4" name="Text 2"/>
          <p:cNvSpPr/>
          <p:nvPr/>
        </p:nvSpPr>
        <p:spPr>
          <a:xfrm>
            <a:off x="812800" y="1824372"/>
            <a:ext cx="10883392" cy="303543"/>
          </a:xfrm>
          <a:prstGeom prst="rect">
            <a:avLst/>
          </a:prstGeom>
          <a:noFill/>
          <a:ln/>
        </p:spPr>
        <p:txBody>
          <a:bodyPr wrap="square" lIns="0" tIns="0" rIns="0" bIns="0" rtlCol="0" anchor="t">
            <a:normAutofit/>
          </a:bodyPr>
          <a:lstStyle/>
          <a:p>
            <a:pPr marL="0" indent="0" algn="l">
              <a:lnSpc>
                <a:spcPts val="2219"/>
              </a:lnSpc>
              <a:buNone/>
            </a:pPr>
            <a:r>
              <a:rPr lang="en-US" sz="1585" dirty="0">
                <a:solidFill>
                  <a:srgbClr val="14262D"/>
                </a:solidFill>
                <a:latin typeface="Plus Jakarta Sans" pitchFamily="34" charset="0"/>
                <a:ea typeface="Plus Jakarta Sans" pitchFamily="34" charset="-122"/>
                <a:cs typeface="Plus Jakarta Sans" pitchFamily="34" charset="-120"/>
              </a:rPr>
              <a:t>Members peak on Tuesday. Casual riders peak on Saturday.</a:t>
            </a:r>
            <a:endParaRPr lang="en-US" sz="1585" dirty="0"/>
          </a:p>
        </p:txBody>
      </p:sp>
      <p:sp>
        <p:nvSpPr>
          <p:cNvPr id="5" name="Shape 3"/>
          <p:cNvSpPr/>
          <p:nvPr/>
        </p:nvSpPr>
        <p:spPr>
          <a:xfrm>
            <a:off x="812800" y="2389324"/>
            <a:ext cx="177800" cy="177800"/>
          </a:xfrm>
          <a:prstGeom prst="roundRect">
            <a:avLst>
              <a:gd name="adj" fmla="val 21429"/>
            </a:avLst>
          </a:prstGeom>
          <a:solidFill>
            <a:srgbClr val="1F6F85"/>
          </a:solidFill>
          <a:ln/>
        </p:spPr>
      </p:sp>
      <p:sp>
        <p:nvSpPr>
          <p:cNvPr id="6" name="Text 4"/>
          <p:cNvSpPr/>
          <p:nvPr/>
        </p:nvSpPr>
        <p:spPr>
          <a:xfrm>
            <a:off x="1066800" y="2353804"/>
            <a:ext cx="96567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Members</a:t>
            </a:r>
            <a:endParaRPr lang="en-US" sz="1400" dirty="0"/>
          </a:p>
        </p:txBody>
      </p:sp>
      <p:sp>
        <p:nvSpPr>
          <p:cNvPr id="7" name="Shape 5"/>
          <p:cNvSpPr/>
          <p:nvPr/>
        </p:nvSpPr>
        <p:spPr>
          <a:xfrm>
            <a:off x="2100130" y="2389324"/>
            <a:ext cx="177800" cy="177800"/>
          </a:xfrm>
          <a:prstGeom prst="roundRect">
            <a:avLst>
              <a:gd name="adj" fmla="val 21429"/>
            </a:avLst>
          </a:prstGeom>
          <a:solidFill>
            <a:srgbClr val="E8833A"/>
          </a:solidFill>
          <a:ln/>
        </p:spPr>
      </p:sp>
      <p:sp>
        <p:nvSpPr>
          <p:cNvPr id="8" name="Text 6"/>
          <p:cNvSpPr/>
          <p:nvPr/>
        </p:nvSpPr>
        <p:spPr>
          <a:xfrm>
            <a:off x="2354130" y="2353804"/>
            <a:ext cx="69278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Casual</a:t>
            </a:r>
            <a:endParaRPr lang="en-US" sz="1400" dirty="0"/>
          </a:p>
        </p:txBody>
      </p:sp>
      <p:sp>
        <p:nvSpPr>
          <p:cNvPr id="9" name="Text 7"/>
          <p:cNvSpPr/>
          <p:nvPr/>
        </p:nvSpPr>
        <p:spPr>
          <a:xfrm>
            <a:off x="946633" y="3142258"/>
            <a:ext cx="463312"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459K</a:t>
            </a:r>
            <a:endParaRPr lang="en-US" sz="1200" dirty="0"/>
          </a:p>
        </p:txBody>
      </p:sp>
      <p:sp>
        <p:nvSpPr>
          <p:cNvPr id="10" name="Shape 8"/>
          <p:cNvSpPr/>
          <p:nvPr/>
        </p:nvSpPr>
        <p:spPr>
          <a:xfrm>
            <a:off x="886222" y="3355578"/>
            <a:ext cx="584200" cy="2228850"/>
          </a:xfrm>
          <a:custGeom>
            <a:avLst/>
            <a:gdLst/>
            <a:ahLst/>
            <a:cxnLst/>
            <a:rect l="l" t="t" r="r" b="b"/>
            <a:pathLst>
              <a:path w="584200" h="2228850">
                <a:moveTo>
                  <a:pt x="50800" y="0"/>
                </a:moveTo>
                <a:lnTo>
                  <a:pt x="533400" y="0"/>
                </a:lnTo>
                <a:arcTo wR="50800" hR="50800" stAng="16200000" swAng="5400000"/>
                <a:lnTo>
                  <a:pt x="584200" y="2228850"/>
                </a:lnTo>
                <a:lnTo>
                  <a:pt x="0" y="2228850"/>
                </a:lnTo>
                <a:lnTo>
                  <a:pt x="0" y="50800"/>
                </a:lnTo>
                <a:arcTo wR="50800" hR="50800" stAng="10800000" swAng="5400000"/>
                <a:close/>
              </a:path>
            </a:pathLst>
          </a:custGeom>
          <a:solidFill>
            <a:srgbClr val="1F6F85"/>
          </a:solidFill>
          <a:ln/>
        </p:spPr>
      </p:sp>
      <p:sp>
        <p:nvSpPr>
          <p:cNvPr id="11" name="Text 9"/>
          <p:cNvSpPr/>
          <p:nvPr/>
        </p:nvSpPr>
        <p:spPr>
          <a:xfrm>
            <a:off x="1627505" y="4875808"/>
            <a:ext cx="397034"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101K</a:t>
            </a:r>
            <a:endParaRPr lang="en-US" sz="1200" dirty="0"/>
          </a:p>
        </p:txBody>
      </p:sp>
      <p:sp>
        <p:nvSpPr>
          <p:cNvPr id="12" name="Shape 10"/>
          <p:cNvSpPr/>
          <p:nvPr/>
        </p:nvSpPr>
        <p:spPr>
          <a:xfrm>
            <a:off x="1533922" y="5089128"/>
            <a:ext cx="584200" cy="495300"/>
          </a:xfrm>
          <a:custGeom>
            <a:avLst/>
            <a:gdLst/>
            <a:ahLst/>
            <a:cxnLst/>
            <a:rect l="l" t="t" r="r" b="b"/>
            <a:pathLst>
              <a:path w="584200" h="495300">
                <a:moveTo>
                  <a:pt x="50800" y="0"/>
                </a:moveTo>
                <a:lnTo>
                  <a:pt x="533400" y="0"/>
                </a:lnTo>
                <a:arcTo wR="50800" hR="50800" stAng="16200000" swAng="5400000"/>
                <a:lnTo>
                  <a:pt x="584200" y="495300"/>
                </a:lnTo>
                <a:lnTo>
                  <a:pt x="0" y="495300"/>
                </a:lnTo>
                <a:lnTo>
                  <a:pt x="0" y="50800"/>
                </a:lnTo>
                <a:arcTo wR="50800" hR="50800" stAng="10800000" swAng="5400000"/>
                <a:close/>
              </a:path>
            </a:pathLst>
          </a:custGeom>
          <a:solidFill>
            <a:srgbClr val="E8833A"/>
          </a:solidFill>
          <a:ln/>
        </p:spPr>
      </p:sp>
      <p:sp>
        <p:nvSpPr>
          <p:cNvPr id="13" name="Text 11"/>
          <p:cNvSpPr/>
          <p:nvPr/>
        </p:nvSpPr>
        <p:spPr>
          <a:xfrm>
            <a:off x="1331112" y="5660628"/>
            <a:ext cx="342186" cy="206772"/>
          </a:xfrm>
          <a:prstGeom prst="rect">
            <a:avLst/>
          </a:prstGeom>
          <a:noFill/>
          <a:ln/>
        </p:spPr>
        <p:txBody>
          <a:bodyPr wrap="square" lIns="0" tIns="0" rIns="0" bIns="0" rtlCol="0" anchor="t">
            <a:normAutofit/>
          </a:bodyPr>
          <a:lstStyle/>
          <a:p>
            <a:pPr marL="0" indent="0" algn="ctr">
              <a:lnSpc>
                <a:spcPts val="1470"/>
              </a:lnSpc>
              <a:buNone/>
            </a:pPr>
            <a:r>
              <a:rPr lang="en-US" sz="1050" b="1" dirty="0">
                <a:solidFill>
                  <a:srgbClr val="14262D"/>
                </a:solidFill>
                <a:latin typeface="Plus Jakarta Sans" pitchFamily="34" charset="0"/>
                <a:ea typeface="Plus Jakarta Sans" pitchFamily="34" charset="-122"/>
                <a:cs typeface="Plus Jakarta Sans" pitchFamily="34" charset="-120"/>
              </a:rPr>
              <a:t>Mon</a:t>
            </a:r>
            <a:endParaRPr lang="en-US" sz="1050" dirty="0"/>
          </a:p>
        </p:txBody>
      </p:sp>
      <p:sp>
        <p:nvSpPr>
          <p:cNvPr id="14" name="Text 12"/>
          <p:cNvSpPr/>
          <p:nvPr/>
        </p:nvSpPr>
        <p:spPr>
          <a:xfrm>
            <a:off x="2483538" y="2958108"/>
            <a:ext cx="45212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497K</a:t>
            </a:r>
            <a:endParaRPr lang="en-US" sz="1200" dirty="0"/>
          </a:p>
        </p:txBody>
      </p:sp>
      <p:sp>
        <p:nvSpPr>
          <p:cNvPr id="15" name="Shape 13"/>
          <p:cNvSpPr/>
          <p:nvPr/>
        </p:nvSpPr>
        <p:spPr>
          <a:xfrm>
            <a:off x="2417498" y="3171428"/>
            <a:ext cx="584200" cy="2413000"/>
          </a:xfrm>
          <a:custGeom>
            <a:avLst/>
            <a:gdLst/>
            <a:ahLst/>
            <a:cxnLst/>
            <a:rect l="l" t="t" r="r" b="b"/>
            <a:pathLst>
              <a:path w="584200" h="2413000">
                <a:moveTo>
                  <a:pt x="50800" y="0"/>
                </a:moveTo>
                <a:lnTo>
                  <a:pt x="533400" y="0"/>
                </a:lnTo>
                <a:arcTo wR="50800" hR="50800" stAng="16200000" swAng="5400000"/>
                <a:lnTo>
                  <a:pt x="584200" y="2413000"/>
                </a:lnTo>
                <a:lnTo>
                  <a:pt x="0" y="2413000"/>
                </a:lnTo>
                <a:lnTo>
                  <a:pt x="0" y="50800"/>
                </a:lnTo>
                <a:arcTo wR="50800" hR="50800" stAng="10800000" swAng="5400000"/>
                <a:close/>
              </a:path>
            </a:pathLst>
          </a:custGeom>
          <a:solidFill>
            <a:srgbClr val="1F6F85"/>
          </a:solidFill>
          <a:ln/>
        </p:spPr>
      </p:sp>
      <p:sp>
        <p:nvSpPr>
          <p:cNvPr id="16" name="Text 14"/>
          <p:cNvSpPr/>
          <p:nvPr/>
        </p:nvSpPr>
        <p:spPr>
          <a:xfrm>
            <a:off x="3183235" y="4939308"/>
            <a:ext cx="348059"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89K</a:t>
            </a:r>
            <a:endParaRPr lang="en-US" sz="1200" dirty="0"/>
          </a:p>
        </p:txBody>
      </p:sp>
      <p:sp>
        <p:nvSpPr>
          <p:cNvPr id="17" name="Shape 15"/>
          <p:cNvSpPr/>
          <p:nvPr/>
        </p:nvSpPr>
        <p:spPr>
          <a:xfrm>
            <a:off x="3065198" y="5152628"/>
            <a:ext cx="584200" cy="431800"/>
          </a:xfrm>
          <a:custGeom>
            <a:avLst/>
            <a:gdLst/>
            <a:ahLst/>
            <a:cxnLst/>
            <a:rect l="l" t="t" r="r" b="b"/>
            <a:pathLst>
              <a:path w="584200" h="431800">
                <a:moveTo>
                  <a:pt x="50800" y="0"/>
                </a:moveTo>
                <a:lnTo>
                  <a:pt x="533400" y="0"/>
                </a:lnTo>
                <a:arcTo wR="50800" hR="50800" stAng="16200000" swAng="5400000"/>
                <a:lnTo>
                  <a:pt x="584200" y="431800"/>
                </a:lnTo>
                <a:lnTo>
                  <a:pt x="0" y="431800"/>
                </a:lnTo>
                <a:lnTo>
                  <a:pt x="0" y="50800"/>
                </a:lnTo>
                <a:arcTo wR="50800" hR="50800" stAng="10800000" swAng="5400000"/>
                <a:close/>
              </a:path>
            </a:pathLst>
          </a:custGeom>
          <a:solidFill>
            <a:srgbClr val="E8833A"/>
          </a:solidFill>
          <a:ln/>
        </p:spPr>
      </p:sp>
      <p:sp>
        <p:nvSpPr>
          <p:cNvPr id="18" name="Text 16"/>
          <p:cNvSpPr/>
          <p:nvPr/>
        </p:nvSpPr>
        <p:spPr>
          <a:xfrm>
            <a:off x="2894211" y="5660628"/>
            <a:ext cx="278474" cy="206772"/>
          </a:xfrm>
          <a:prstGeom prst="rect">
            <a:avLst/>
          </a:prstGeom>
          <a:noFill/>
          <a:ln/>
        </p:spPr>
        <p:txBody>
          <a:bodyPr wrap="square" lIns="0" tIns="0" rIns="0" bIns="0" rtlCol="0" anchor="t">
            <a:normAutofit/>
          </a:bodyPr>
          <a:lstStyle/>
          <a:p>
            <a:pPr marL="0" indent="0" algn="ctr">
              <a:lnSpc>
                <a:spcPts val="1470"/>
              </a:lnSpc>
              <a:buNone/>
            </a:pPr>
            <a:r>
              <a:rPr lang="en-US" sz="1050" b="1" dirty="0">
                <a:solidFill>
                  <a:srgbClr val="14262D"/>
                </a:solidFill>
                <a:latin typeface="Plus Jakarta Sans" pitchFamily="34" charset="0"/>
                <a:ea typeface="Plus Jakarta Sans" pitchFamily="34" charset="-122"/>
                <a:cs typeface="Plus Jakarta Sans" pitchFamily="34" charset="-120"/>
              </a:rPr>
              <a:t>Tue</a:t>
            </a:r>
            <a:endParaRPr lang="en-US" sz="1050" dirty="0"/>
          </a:p>
        </p:txBody>
      </p:sp>
      <p:sp>
        <p:nvSpPr>
          <p:cNvPr id="19" name="Text 17"/>
          <p:cNvSpPr/>
          <p:nvPr/>
        </p:nvSpPr>
        <p:spPr>
          <a:xfrm>
            <a:off x="4008160" y="2970808"/>
            <a:ext cx="465296"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494K</a:t>
            </a:r>
            <a:endParaRPr lang="en-US" sz="1200" dirty="0"/>
          </a:p>
        </p:txBody>
      </p:sp>
      <p:sp>
        <p:nvSpPr>
          <p:cNvPr id="20" name="Shape 18"/>
          <p:cNvSpPr/>
          <p:nvPr/>
        </p:nvSpPr>
        <p:spPr>
          <a:xfrm>
            <a:off x="3948708" y="3184128"/>
            <a:ext cx="584200" cy="2400300"/>
          </a:xfrm>
          <a:custGeom>
            <a:avLst/>
            <a:gdLst/>
            <a:ahLst/>
            <a:cxnLst/>
            <a:rect l="l" t="t" r="r" b="b"/>
            <a:pathLst>
              <a:path w="584200" h="2400300">
                <a:moveTo>
                  <a:pt x="50800" y="0"/>
                </a:moveTo>
                <a:lnTo>
                  <a:pt x="533400" y="0"/>
                </a:lnTo>
                <a:arcTo wR="50800" hR="50800" stAng="16200000" swAng="5400000"/>
                <a:lnTo>
                  <a:pt x="584200" y="2400300"/>
                </a:lnTo>
                <a:lnTo>
                  <a:pt x="0" y="2400300"/>
                </a:lnTo>
                <a:lnTo>
                  <a:pt x="0" y="50800"/>
                </a:lnTo>
                <a:arcTo wR="50800" hR="50800" stAng="10800000" swAng="5400000"/>
                <a:close/>
              </a:path>
            </a:pathLst>
          </a:custGeom>
          <a:solidFill>
            <a:srgbClr val="1F6F85"/>
          </a:solidFill>
          <a:ln/>
        </p:spPr>
      </p:sp>
      <p:sp>
        <p:nvSpPr>
          <p:cNvPr id="21" name="Text 19"/>
          <p:cNvSpPr/>
          <p:nvPr/>
        </p:nvSpPr>
        <p:spPr>
          <a:xfrm>
            <a:off x="4706666" y="4932958"/>
            <a:ext cx="363617"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90K</a:t>
            </a:r>
            <a:endParaRPr lang="en-US" sz="1200" dirty="0"/>
          </a:p>
        </p:txBody>
      </p:sp>
      <p:sp>
        <p:nvSpPr>
          <p:cNvPr id="22" name="Shape 20"/>
          <p:cNvSpPr/>
          <p:nvPr/>
        </p:nvSpPr>
        <p:spPr>
          <a:xfrm>
            <a:off x="4596408" y="5146278"/>
            <a:ext cx="584200" cy="438150"/>
          </a:xfrm>
          <a:custGeom>
            <a:avLst/>
            <a:gdLst/>
            <a:ahLst/>
            <a:cxnLst/>
            <a:rect l="l" t="t" r="r" b="b"/>
            <a:pathLst>
              <a:path w="584200" h="438150">
                <a:moveTo>
                  <a:pt x="50800" y="0"/>
                </a:moveTo>
                <a:lnTo>
                  <a:pt x="533400" y="0"/>
                </a:lnTo>
                <a:arcTo wR="50800" hR="50800" stAng="16200000" swAng="5400000"/>
                <a:lnTo>
                  <a:pt x="584200" y="438150"/>
                </a:lnTo>
                <a:lnTo>
                  <a:pt x="0" y="438150"/>
                </a:lnTo>
                <a:lnTo>
                  <a:pt x="0" y="50800"/>
                </a:lnTo>
                <a:arcTo wR="50800" hR="50800" stAng="10800000" swAng="5400000"/>
                <a:close/>
              </a:path>
            </a:pathLst>
          </a:custGeom>
          <a:solidFill>
            <a:srgbClr val="E8833A"/>
          </a:solidFill>
          <a:ln/>
        </p:spPr>
      </p:sp>
      <p:sp>
        <p:nvSpPr>
          <p:cNvPr id="23" name="Text 21"/>
          <p:cNvSpPr/>
          <p:nvPr/>
        </p:nvSpPr>
        <p:spPr>
          <a:xfrm>
            <a:off x="4382889" y="5660628"/>
            <a:ext cx="363538" cy="206772"/>
          </a:xfrm>
          <a:prstGeom prst="rect">
            <a:avLst/>
          </a:prstGeom>
          <a:noFill/>
          <a:ln/>
        </p:spPr>
        <p:txBody>
          <a:bodyPr wrap="square" lIns="0" tIns="0" rIns="0" bIns="0" rtlCol="0" anchor="t">
            <a:normAutofit/>
          </a:bodyPr>
          <a:lstStyle/>
          <a:p>
            <a:pPr marL="0" indent="0" algn="ctr">
              <a:lnSpc>
                <a:spcPts val="1470"/>
              </a:lnSpc>
              <a:buNone/>
            </a:pPr>
            <a:r>
              <a:rPr lang="en-US" sz="1050" b="1" dirty="0">
                <a:solidFill>
                  <a:srgbClr val="14262D"/>
                </a:solidFill>
                <a:latin typeface="Plus Jakarta Sans" pitchFamily="34" charset="0"/>
                <a:ea typeface="Plus Jakarta Sans" pitchFamily="34" charset="-122"/>
                <a:cs typeface="Plus Jakarta Sans" pitchFamily="34" charset="-120"/>
              </a:rPr>
              <a:t>Wed</a:t>
            </a:r>
            <a:endParaRPr lang="en-US" sz="1050" dirty="0"/>
          </a:p>
        </p:txBody>
      </p:sp>
      <p:sp>
        <p:nvSpPr>
          <p:cNvPr id="24" name="Text 22"/>
          <p:cNvSpPr/>
          <p:nvPr/>
        </p:nvSpPr>
        <p:spPr>
          <a:xfrm>
            <a:off x="5543253" y="3008908"/>
            <a:ext cx="457597"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487K</a:t>
            </a:r>
            <a:endParaRPr lang="en-US" sz="1200" dirty="0"/>
          </a:p>
        </p:txBody>
      </p:sp>
      <p:sp>
        <p:nvSpPr>
          <p:cNvPr id="25" name="Shape 23"/>
          <p:cNvSpPr/>
          <p:nvPr/>
        </p:nvSpPr>
        <p:spPr>
          <a:xfrm>
            <a:off x="5479984" y="3222228"/>
            <a:ext cx="584200" cy="2362200"/>
          </a:xfrm>
          <a:custGeom>
            <a:avLst/>
            <a:gdLst/>
            <a:ahLst/>
            <a:cxnLst/>
            <a:rect l="l" t="t" r="r" b="b"/>
            <a:pathLst>
              <a:path w="584200" h="2362200">
                <a:moveTo>
                  <a:pt x="50800" y="0"/>
                </a:moveTo>
                <a:lnTo>
                  <a:pt x="533400" y="0"/>
                </a:lnTo>
                <a:arcTo wR="50800" hR="50800" stAng="16200000" swAng="5400000"/>
                <a:lnTo>
                  <a:pt x="584200" y="2362200"/>
                </a:lnTo>
                <a:lnTo>
                  <a:pt x="0" y="2362200"/>
                </a:lnTo>
                <a:lnTo>
                  <a:pt x="0" y="50800"/>
                </a:lnTo>
                <a:arcTo wR="50800" hR="50800" stAng="10800000" swAng="5400000"/>
                <a:close/>
              </a:path>
            </a:pathLst>
          </a:custGeom>
          <a:solidFill>
            <a:srgbClr val="1F6F85"/>
          </a:solidFill>
          <a:ln/>
        </p:spPr>
      </p:sp>
      <p:sp>
        <p:nvSpPr>
          <p:cNvPr id="26" name="Text 24"/>
          <p:cNvSpPr/>
          <p:nvPr/>
        </p:nvSpPr>
        <p:spPr>
          <a:xfrm>
            <a:off x="6221267" y="4875808"/>
            <a:ext cx="397034"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101K</a:t>
            </a:r>
            <a:endParaRPr lang="en-US" sz="1200" dirty="0"/>
          </a:p>
        </p:txBody>
      </p:sp>
      <p:sp>
        <p:nvSpPr>
          <p:cNvPr id="27" name="Shape 25"/>
          <p:cNvSpPr/>
          <p:nvPr/>
        </p:nvSpPr>
        <p:spPr>
          <a:xfrm>
            <a:off x="6127684" y="5089128"/>
            <a:ext cx="584200" cy="495300"/>
          </a:xfrm>
          <a:custGeom>
            <a:avLst/>
            <a:gdLst/>
            <a:ahLst/>
            <a:cxnLst/>
            <a:rect l="l" t="t" r="r" b="b"/>
            <a:pathLst>
              <a:path w="584200" h="495300">
                <a:moveTo>
                  <a:pt x="50800" y="0"/>
                </a:moveTo>
                <a:lnTo>
                  <a:pt x="533400" y="0"/>
                </a:lnTo>
                <a:arcTo wR="50800" hR="50800" stAng="16200000" swAng="5400000"/>
                <a:lnTo>
                  <a:pt x="584200" y="495300"/>
                </a:lnTo>
                <a:lnTo>
                  <a:pt x="0" y="495300"/>
                </a:lnTo>
                <a:lnTo>
                  <a:pt x="0" y="50800"/>
                </a:lnTo>
                <a:arcTo wR="50800" hR="50800" stAng="10800000" swAng="5400000"/>
                <a:close/>
              </a:path>
            </a:pathLst>
          </a:custGeom>
          <a:solidFill>
            <a:srgbClr val="E8833A"/>
          </a:solidFill>
          <a:ln/>
        </p:spPr>
      </p:sp>
      <p:sp>
        <p:nvSpPr>
          <p:cNvPr id="28" name="Text 26"/>
          <p:cNvSpPr/>
          <p:nvPr/>
        </p:nvSpPr>
        <p:spPr>
          <a:xfrm>
            <a:off x="5955308" y="5660628"/>
            <a:ext cx="281252" cy="206772"/>
          </a:xfrm>
          <a:prstGeom prst="rect">
            <a:avLst/>
          </a:prstGeom>
          <a:noFill/>
          <a:ln/>
        </p:spPr>
        <p:txBody>
          <a:bodyPr wrap="square" lIns="0" tIns="0" rIns="0" bIns="0" rtlCol="0" anchor="t">
            <a:normAutofit/>
          </a:bodyPr>
          <a:lstStyle/>
          <a:p>
            <a:pPr marL="0" indent="0" algn="ctr">
              <a:lnSpc>
                <a:spcPts val="1470"/>
              </a:lnSpc>
              <a:buNone/>
            </a:pPr>
            <a:r>
              <a:rPr lang="en-US" sz="1050" b="1" dirty="0">
                <a:solidFill>
                  <a:srgbClr val="14262D"/>
                </a:solidFill>
                <a:latin typeface="Plus Jakarta Sans" pitchFamily="34" charset="0"/>
                <a:ea typeface="Plus Jakarta Sans" pitchFamily="34" charset="-122"/>
                <a:cs typeface="Plus Jakarta Sans" pitchFamily="34" charset="-120"/>
              </a:rPr>
              <a:t>Thu</a:t>
            </a:r>
            <a:endParaRPr lang="en-US" sz="1050" dirty="0"/>
          </a:p>
        </p:txBody>
      </p:sp>
      <p:sp>
        <p:nvSpPr>
          <p:cNvPr id="29" name="Text 27"/>
          <p:cNvSpPr/>
          <p:nvPr/>
        </p:nvSpPr>
        <p:spPr>
          <a:xfrm>
            <a:off x="7076030" y="3154958"/>
            <a:ext cx="45466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457K</a:t>
            </a:r>
            <a:endParaRPr lang="en-US" sz="1200" dirty="0"/>
          </a:p>
        </p:txBody>
      </p:sp>
      <p:sp>
        <p:nvSpPr>
          <p:cNvPr id="30" name="Shape 28"/>
          <p:cNvSpPr/>
          <p:nvPr/>
        </p:nvSpPr>
        <p:spPr>
          <a:xfrm>
            <a:off x="7011260" y="3368278"/>
            <a:ext cx="584200" cy="2216150"/>
          </a:xfrm>
          <a:custGeom>
            <a:avLst/>
            <a:gdLst/>
            <a:ahLst/>
            <a:cxnLst/>
            <a:rect l="l" t="t" r="r" b="b"/>
            <a:pathLst>
              <a:path w="584200" h="2216150">
                <a:moveTo>
                  <a:pt x="50800" y="0"/>
                </a:moveTo>
                <a:lnTo>
                  <a:pt x="533400" y="0"/>
                </a:lnTo>
                <a:arcTo wR="50800" hR="50800" stAng="16200000" swAng="5400000"/>
                <a:lnTo>
                  <a:pt x="584200" y="2216150"/>
                </a:lnTo>
                <a:lnTo>
                  <a:pt x="0" y="2216150"/>
                </a:lnTo>
                <a:lnTo>
                  <a:pt x="0" y="50800"/>
                </a:lnTo>
                <a:arcTo wR="50800" hR="50800" stAng="10800000" swAng="5400000"/>
                <a:close/>
              </a:path>
            </a:pathLst>
          </a:custGeom>
          <a:solidFill>
            <a:srgbClr val="1F6F85"/>
          </a:solidFill>
          <a:ln/>
        </p:spPr>
      </p:sp>
      <p:sp>
        <p:nvSpPr>
          <p:cNvPr id="31" name="Text 29"/>
          <p:cNvSpPr/>
          <p:nvPr/>
        </p:nvSpPr>
        <p:spPr>
          <a:xfrm>
            <a:off x="7763266" y="4780558"/>
            <a:ext cx="37552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121K</a:t>
            </a:r>
            <a:endParaRPr lang="en-US" sz="1200" dirty="0"/>
          </a:p>
        </p:txBody>
      </p:sp>
      <p:sp>
        <p:nvSpPr>
          <p:cNvPr id="32" name="Shape 30"/>
          <p:cNvSpPr/>
          <p:nvPr/>
        </p:nvSpPr>
        <p:spPr>
          <a:xfrm>
            <a:off x="7658960" y="4993878"/>
            <a:ext cx="584200" cy="590550"/>
          </a:xfrm>
          <a:custGeom>
            <a:avLst/>
            <a:gdLst/>
            <a:ahLst/>
            <a:cxnLst/>
            <a:rect l="l" t="t" r="r" b="b"/>
            <a:pathLst>
              <a:path w="584200" h="590550">
                <a:moveTo>
                  <a:pt x="50800" y="0"/>
                </a:moveTo>
                <a:lnTo>
                  <a:pt x="533400" y="0"/>
                </a:lnTo>
                <a:arcTo wR="50800" hR="50800" stAng="16200000" swAng="5400000"/>
                <a:lnTo>
                  <a:pt x="584200" y="590550"/>
                </a:lnTo>
                <a:lnTo>
                  <a:pt x="0" y="590550"/>
                </a:lnTo>
                <a:lnTo>
                  <a:pt x="0" y="50800"/>
                </a:lnTo>
                <a:arcTo wR="50800" hR="50800" stAng="10800000" swAng="5400000"/>
                <a:close/>
              </a:path>
            </a:pathLst>
          </a:custGeom>
          <a:solidFill>
            <a:srgbClr val="E8833A"/>
          </a:solidFill>
          <a:ln/>
        </p:spPr>
      </p:sp>
      <p:sp>
        <p:nvSpPr>
          <p:cNvPr id="33" name="Text 31"/>
          <p:cNvSpPr/>
          <p:nvPr/>
        </p:nvSpPr>
        <p:spPr>
          <a:xfrm>
            <a:off x="7522964" y="5660628"/>
            <a:ext cx="208426" cy="206772"/>
          </a:xfrm>
          <a:prstGeom prst="rect">
            <a:avLst/>
          </a:prstGeom>
          <a:noFill/>
          <a:ln/>
        </p:spPr>
        <p:txBody>
          <a:bodyPr wrap="square" lIns="0" tIns="0" rIns="0" bIns="0" rtlCol="0" anchor="t">
            <a:normAutofit/>
          </a:bodyPr>
          <a:lstStyle/>
          <a:p>
            <a:pPr marL="0" indent="0" algn="ctr">
              <a:lnSpc>
                <a:spcPts val="1470"/>
              </a:lnSpc>
              <a:buNone/>
            </a:pPr>
            <a:r>
              <a:rPr lang="en-US" sz="1050" b="1" dirty="0">
                <a:solidFill>
                  <a:srgbClr val="14262D"/>
                </a:solidFill>
                <a:latin typeface="Plus Jakarta Sans" pitchFamily="34" charset="0"/>
                <a:ea typeface="Plus Jakarta Sans" pitchFamily="34" charset="-122"/>
                <a:cs typeface="Plus Jakarta Sans" pitchFamily="34" charset="-120"/>
              </a:rPr>
              <a:t>Fri</a:t>
            </a:r>
            <a:endParaRPr lang="en-US" sz="1050" dirty="0"/>
          </a:p>
        </p:txBody>
      </p:sp>
      <p:sp>
        <p:nvSpPr>
          <p:cNvPr id="34" name="Text 32"/>
          <p:cNvSpPr/>
          <p:nvPr/>
        </p:nvSpPr>
        <p:spPr>
          <a:xfrm>
            <a:off x="8610171" y="3974108"/>
            <a:ext cx="448866"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287K</a:t>
            </a:r>
            <a:endParaRPr lang="en-US" sz="1200" dirty="0"/>
          </a:p>
        </p:txBody>
      </p:sp>
      <p:sp>
        <p:nvSpPr>
          <p:cNvPr id="35" name="Shape 33"/>
          <p:cNvSpPr/>
          <p:nvPr/>
        </p:nvSpPr>
        <p:spPr>
          <a:xfrm>
            <a:off x="8542536" y="4187428"/>
            <a:ext cx="584200" cy="1397000"/>
          </a:xfrm>
          <a:custGeom>
            <a:avLst/>
            <a:gdLst/>
            <a:ahLst/>
            <a:cxnLst/>
            <a:rect l="l" t="t" r="r" b="b"/>
            <a:pathLst>
              <a:path w="584200" h="1397000">
                <a:moveTo>
                  <a:pt x="50800" y="0"/>
                </a:moveTo>
                <a:lnTo>
                  <a:pt x="533400" y="0"/>
                </a:lnTo>
                <a:arcTo wR="50800" hR="50800" stAng="16200000" swAng="5400000"/>
                <a:lnTo>
                  <a:pt x="584200" y="1397000"/>
                </a:lnTo>
                <a:lnTo>
                  <a:pt x="0" y="1397000"/>
                </a:lnTo>
                <a:lnTo>
                  <a:pt x="0" y="50800"/>
                </a:lnTo>
                <a:arcTo wR="50800" hR="50800" stAng="10800000" swAng="5400000"/>
                <a:close/>
              </a:path>
            </a:pathLst>
          </a:custGeom>
          <a:solidFill>
            <a:srgbClr val="1F6F85"/>
          </a:solidFill>
          <a:ln/>
        </p:spPr>
      </p:sp>
      <p:sp>
        <p:nvSpPr>
          <p:cNvPr id="36" name="Text 34"/>
          <p:cNvSpPr/>
          <p:nvPr/>
        </p:nvSpPr>
        <p:spPr>
          <a:xfrm>
            <a:off x="9243100" y="4361458"/>
            <a:ext cx="47847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208K</a:t>
            </a:r>
            <a:endParaRPr lang="en-US" sz="1200" dirty="0"/>
          </a:p>
        </p:txBody>
      </p:sp>
      <p:sp>
        <p:nvSpPr>
          <p:cNvPr id="37" name="Shape 35"/>
          <p:cNvSpPr/>
          <p:nvPr/>
        </p:nvSpPr>
        <p:spPr>
          <a:xfrm>
            <a:off x="9190236" y="4574778"/>
            <a:ext cx="584200" cy="1009650"/>
          </a:xfrm>
          <a:custGeom>
            <a:avLst/>
            <a:gdLst/>
            <a:ahLst/>
            <a:cxnLst/>
            <a:rect l="l" t="t" r="r" b="b"/>
            <a:pathLst>
              <a:path w="584200" h="1009650">
                <a:moveTo>
                  <a:pt x="50800" y="0"/>
                </a:moveTo>
                <a:lnTo>
                  <a:pt x="533400" y="0"/>
                </a:lnTo>
                <a:arcTo wR="50800" hR="50800" stAng="16200000" swAng="5400000"/>
                <a:lnTo>
                  <a:pt x="584200" y="1009650"/>
                </a:lnTo>
                <a:lnTo>
                  <a:pt x="0" y="1009650"/>
                </a:lnTo>
                <a:lnTo>
                  <a:pt x="0" y="50800"/>
                </a:lnTo>
                <a:arcTo wR="50800" hR="50800" stAng="10800000" swAng="5400000"/>
                <a:close/>
              </a:path>
            </a:pathLst>
          </a:custGeom>
          <a:solidFill>
            <a:srgbClr val="E8833A"/>
          </a:solidFill>
          <a:ln/>
        </p:spPr>
      </p:sp>
      <p:sp>
        <p:nvSpPr>
          <p:cNvPr id="38" name="Text 36"/>
          <p:cNvSpPr/>
          <p:nvPr/>
        </p:nvSpPr>
        <p:spPr>
          <a:xfrm>
            <a:off x="9024739" y="5660628"/>
            <a:ext cx="267494" cy="206772"/>
          </a:xfrm>
          <a:prstGeom prst="rect">
            <a:avLst/>
          </a:prstGeom>
          <a:noFill/>
          <a:ln/>
        </p:spPr>
        <p:txBody>
          <a:bodyPr wrap="square" lIns="0" tIns="0" rIns="0" bIns="0" rtlCol="0" anchor="t">
            <a:normAutofit/>
          </a:bodyPr>
          <a:lstStyle/>
          <a:p>
            <a:pPr marL="0" indent="0" algn="ctr">
              <a:lnSpc>
                <a:spcPts val="1470"/>
              </a:lnSpc>
              <a:buNone/>
            </a:pPr>
            <a:r>
              <a:rPr lang="en-US" sz="1050" b="1" dirty="0">
                <a:solidFill>
                  <a:srgbClr val="14262D"/>
                </a:solidFill>
                <a:latin typeface="Plus Jakarta Sans" pitchFamily="34" charset="0"/>
                <a:ea typeface="Plus Jakarta Sans" pitchFamily="34" charset="-122"/>
                <a:cs typeface="Plus Jakarta Sans" pitchFamily="34" charset="-120"/>
              </a:rPr>
              <a:t>Sat</a:t>
            </a:r>
            <a:endParaRPr lang="en-US" sz="1050" dirty="0"/>
          </a:p>
        </p:txBody>
      </p:sp>
      <p:sp>
        <p:nvSpPr>
          <p:cNvPr id="39" name="Text 37"/>
          <p:cNvSpPr/>
          <p:nvPr/>
        </p:nvSpPr>
        <p:spPr>
          <a:xfrm>
            <a:off x="10138662" y="4126508"/>
            <a:ext cx="454501"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256K</a:t>
            </a:r>
            <a:endParaRPr lang="en-US" sz="1200" dirty="0"/>
          </a:p>
        </p:txBody>
      </p:sp>
      <p:sp>
        <p:nvSpPr>
          <p:cNvPr id="40" name="Shape 38"/>
          <p:cNvSpPr/>
          <p:nvPr/>
        </p:nvSpPr>
        <p:spPr>
          <a:xfrm>
            <a:off x="10073812" y="4339828"/>
            <a:ext cx="584200" cy="1244600"/>
          </a:xfrm>
          <a:custGeom>
            <a:avLst/>
            <a:gdLst/>
            <a:ahLst/>
            <a:cxnLst/>
            <a:rect l="l" t="t" r="r" b="b"/>
            <a:pathLst>
              <a:path w="584200" h="1244600">
                <a:moveTo>
                  <a:pt x="50800" y="0"/>
                </a:moveTo>
                <a:lnTo>
                  <a:pt x="533400" y="0"/>
                </a:lnTo>
                <a:arcTo wR="50800" hR="50800" stAng="16200000" swAng="5400000"/>
                <a:lnTo>
                  <a:pt x="584200" y="1244600"/>
                </a:lnTo>
                <a:lnTo>
                  <a:pt x="0" y="1244600"/>
                </a:lnTo>
                <a:lnTo>
                  <a:pt x="0" y="50800"/>
                </a:lnTo>
                <a:arcTo wR="50800" hR="50800" stAng="10800000" swAng="5400000"/>
                <a:close/>
              </a:path>
            </a:pathLst>
          </a:custGeom>
          <a:solidFill>
            <a:srgbClr val="1F6F85"/>
          </a:solidFill>
          <a:ln/>
        </p:spPr>
      </p:sp>
      <p:sp>
        <p:nvSpPr>
          <p:cNvPr id="41" name="Text 39"/>
          <p:cNvSpPr/>
          <p:nvPr/>
        </p:nvSpPr>
        <p:spPr>
          <a:xfrm>
            <a:off x="10800252" y="4545608"/>
            <a:ext cx="42672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62D"/>
                </a:solidFill>
                <a:latin typeface="Plus Jakarta Sans" pitchFamily="34" charset="0"/>
                <a:ea typeface="Plus Jakarta Sans" pitchFamily="34" charset="-122"/>
                <a:cs typeface="Plus Jakarta Sans" pitchFamily="34" charset="-120"/>
              </a:rPr>
              <a:t>170K</a:t>
            </a:r>
            <a:endParaRPr lang="en-US" sz="1200" dirty="0"/>
          </a:p>
        </p:txBody>
      </p:sp>
      <p:sp>
        <p:nvSpPr>
          <p:cNvPr id="42" name="Shape 40"/>
          <p:cNvSpPr/>
          <p:nvPr/>
        </p:nvSpPr>
        <p:spPr>
          <a:xfrm>
            <a:off x="10721512" y="4758928"/>
            <a:ext cx="584200" cy="825500"/>
          </a:xfrm>
          <a:custGeom>
            <a:avLst/>
            <a:gdLst/>
            <a:ahLst/>
            <a:cxnLst/>
            <a:rect l="l" t="t" r="r" b="b"/>
            <a:pathLst>
              <a:path w="584200" h="825500">
                <a:moveTo>
                  <a:pt x="50800" y="0"/>
                </a:moveTo>
                <a:lnTo>
                  <a:pt x="533400" y="0"/>
                </a:lnTo>
                <a:arcTo wR="50800" hR="50800" stAng="16200000" swAng="5400000"/>
                <a:lnTo>
                  <a:pt x="584200" y="825500"/>
                </a:lnTo>
                <a:lnTo>
                  <a:pt x="0" y="825500"/>
                </a:lnTo>
                <a:lnTo>
                  <a:pt x="0" y="50800"/>
                </a:lnTo>
                <a:arcTo wR="50800" hR="50800" stAng="10800000" swAng="5400000"/>
                <a:close/>
              </a:path>
            </a:pathLst>
          </a:custGeom>
          <a:solidFill>
            <a:srgbClr val="E8833A"/>
          </a:solidFill>
          <a:ln/>
        </p:spPr>
      </p:sp>
      <p:sp>
        <p:nvSpPr>
          <p:cNvPr id="43" name="Text 41"/>
          <p:cNvSpPr/>
          <p:nvPr/>
        </p:nvSpPr>
        <p:spPr>
          <a:xfrm>
            <a:off x="10542125" y="5660628"/>
            <a:ext cx="295275" cy="206772"/>
          </a:xfrm>
          <a:prstGeom prst="rect">
            <a:avLst/>
          </a:prstGeom>
          <a:noFill/>
          <a:ln/>
        </p:spPr>
        <p:txBody>
          <a:bodyPr wrap="square" lIns="0" tIns="0" rIns="0" bIns="0" rtlCol="0" anchor="t">
            <a:normAutofit/>
          </a:bodyPr>
          <a:lstStyle/>
          <a:p>
            <a:pPr marL="0" indent="0" algn="ctr">
              <a:lnSpc>
                <a:spcPts val="1470"/>
              </a:lnSpc>
              <a:buNone/>
            </a:pPr>
            <a:r>
              <a:rPr lang="en-US" sz="1050" b="1" dirty="0">
                <a:solidFill>
                  <a:srgbClr val="14262D"/>
                </a:solidFill>
                <a:latin typeface="Plus Jakarta Sans" pitchFamily="34" charset="0"/>
                <a:ea typeface="Plus Jakarta Sans" pitchFamily="34" charset="-122"/>
                <a:cs typeface="Plus Jakarta Sans" pitchFamily="34" charset="-120"/>
              </a:rPr>
              <a:t>Sun</a:t>
            </a:r>
            <a:endParaRPr lang="en-US" sz="1050" dirty="0"/>
          </a:p>
        </p:txBody>
      </p:sp>
      <p:sp>
        <p:nvSpPr>
          <p:cNvPr id="44" name="Text 42"/>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45" name="Text 43"/>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PROBLEM</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Ride length (minutes)</a:t>
            </a:r>
            <a:endParaRPr lang="en-US" sz="3200" dirty="0"/>
          </a:p>
        </p:txBody>
      </p:sp>
      <p:sp>
        <p:nvSpPr>
          <p:cNvPr id="4" name="Text 2"/>
          <p:cNvSpPr/>
          <p:nvPr/>
        </p:nvSpPr>
        <p:spPr>
          <a:xfrm>
            <a:off x="1039019" y="4026235"/>
            <a:ext cx="436563"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262D"/>
                </a:solidFill>
                <a:latin typeface="Plus Jakarta Sans" pitchFamily="34" charset="0"/>
                <a:ea typeface="Plus Jakarta Sans" pitchFamily="34" charset="-122"/>
                <a:cs typeface="Plus Jakarta Sans" pitchFamily="34" charset="-120"/>
              </a:rPr>
              <a:t>14.3</a:t>
            </a:r>
            <a:endParaRPr lang="en-US" sz="1400" dirty="0"/>
          </a:p>
        </p:txBody>
      </p:sp>
      <p:sp>
        <p:nvSpPr>
          <p:cNvPr id="5" name="Shape 3"/>
          <p:cNvSpPr/>
          <p:nvPr/>
        </p:nvSpPr>
        <p:spPr>
          <a:xfrm>
            <a:off x="812800" y="4275138"/>
            <a:ext cx="889000" cy="641350"/>
          </a:xfrm>
          <a:custGeom>
            <a:avLst/>
            <a:gdLst/>
            <a:ahLst/>
            <a:cxnLst/>
            <a:rect l="l" t="t" r="r" b="b"/>
            <a:pathLst>
              <a:path w="889000" h="641350">
                <a:moveTo>
                  <a:pt x="50800" y="0"/>
                </a:moveTo>
                <a:lnTo>
                  <a:pt x="838200" y="0"/>
                </a:lnTo>
                <a:arcTo wR="50800" hR="50800" stAng="16200000" swAng="5400000"/>
                <a:lnTo>
                  <a:pt x="889000" y="641350"/>
                </a:lnTo>
                <a:lnTo>
                  <a:pt x="0" y="641350"/>
                </a:lnTo>
                <a:lnTo>
                  <a:pt x="0" y="50800"/>
                </a:lnTo>
                <a:arcTo wR="50800" hR="50800" stAng="10800000" swAng="5400000"/>
                <a:close/>
              </a:path>
            </a:pathLst>
          </a:custGeom>
          <a:solidFill>
            <a:srgbClr val="1F6F85"/>
          </a:solidFill>
          <a:ln/>
        </p:spPr>
      </p:sp>
      <p:sp>
        <p:nvSpPr>
          <p:cNvPr id="6" name="Text 4"/>
          <p:cNvSpPr/>
          <p:nvPr/>
        </p:nvSpPr>
        <p:spPr>
          <a:xfrm>
            <a:off x="1017991" y="4916488"/>
            <a:ext cx="47855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Mean</a:t>
            </a:r>
            <a:endParaRPr lang="en-US" sz="1200" dirty="0"/>
          </a:p>
        </p:txBody>
      </p:sp>
      <p:sp>
        <p:nvSpPr>
          <p:cNvPr id="7" name="Text 5"/>
          <p:cNvSpPr/>
          <p:nvPr/>
        </p:nvSpPr>
        <p:spPr>
          <a:xfrm>
            <a:off x="2066932" y="4229435"/>
            <a:ext cx="336471"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262D"/>
                </a:solidFill>
                <a:latin typeface="Plus Jakarta Sans" pitchFamily="34" charset="0"/>
                <a:ea typeface="Plus Jakarta Sans" pitchFamily="34" charset="-122"/>
                <a:cs typeface="Plus Jakarta Sans" pitchFamily="34" charset="-120"/>
              </a:rPr>
              <a:t>9.8</a:t>
            </a:r>
            <a:endParaRPr lang="en-US" sz="1400" dirty="0"/>
          </a:p>
        </p:txBody>
      </p:sp>
      <p:sp>
        <p:nvSpPr>
          <p:cNvPr id="8" name="Shape 6"/>
          <p:cNvSpPr/>
          <p:nvPr/>
        </p:nvSpPr>
        <p:spPr>
          <a:xfrm>
            <a:off x="1790700" y="4478338"/>
            <a:ext cx="889000" cy="438150"/>
          </a:xfrm>
          <a:custGeom>
            <a:avLst/>
            <a:gdLst/>
            <a:ahLst/>
            <a:cxnLst/>
            <a:rect l="l" t="t" r="r" b="b"/>
            <a:pathLst>
              <a:path w="889000" h="438150">
                <a:moveTo>
                  <a:pt x="50800" y="0"/>
                </a:moveTo>
                <a:lnTo>
                  <a:pt x="838200" y="0"/>
                </a:lnTo>
                <a:arcTo wR="50800" hR="50800" stAng="16200000" swAng="5400000"/>
                <a:lnTo>
                  <a:pt x="889000" y="438150"/>
                </a:lnTo>
                <a:lnTo>
                  <a:pt x="0" y="438150"/>
                </a:lnTo>
                <a:lnTo>
                  <a:pt x="0" y="50800"/>
                </a:lnTo>
                <a:arcTo wR="50800" hR="50800" stAng="10800000" swAng="5400000"/>
                <a:close/>
              </a:path>
            </a:pathLst>
          </a:custGeom>
          <a:solidFill>
            <a:srgbClr val="8FC1CF"/>
          </a:solidFill>
          <a:ln/>
        </p:spPr>
      </p:sp>
      <p:sp>
        <p:nvSpPr>
          <p:cNvPr id="9" name="Text 7"/>
          <p:cNvSpPr/>
          <p:nvPr/>
        </p:nvSpPr>
        <p:spPr>
          <a:xfrm>
            <a:off x="1912382" y="4916488"/>
            <a:ext cx="64563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Median</a:t>
            </a:r>
            <a:endParaRPr lang="en-US" sz="1200" dirty="0"/>
          </a:p>
        </p:txBody>
      </p:sp>
      <p:sp>
        <p:nvSpPr>
          <p:cNvPr id="10" name="Text 8"/>
          <p:cNvSpPr/>
          <p:nvPr/>
        </p:nvSpPr>
        <p:spPr>
          <a:xfrm>
            <a:off x="1185234" y="5206008"/>
            <a:ext cx="1121966" cy="30982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Members</a:t>
            </a:r>
            <a:endParaRPr lang="en-US" sz="1600" dirty="0"/>
          </a:p>
        </p:txBody>
      </p:sp>
      <p:sp>
        <p:nvSpPr>
          <p:cNvPr id="11" name="Text 9"/>
          <p:cNvSpPr/>
          <p:nvPr/>
        </p:nvSpPr>
        <p:spPr>
          <a:xfrm>
            <a:off x="3296133" y="2127585"/>
            <a:ext cx="468868"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262D"/>
                </a:solidFill>
                <a:latin typeface="Plus Jakarta Sans" pitchFamily="34" charset="0"/>
                <a:ea typeface="Plus Jakarta Sans" pitchFamily="34" charset="-122"/>
                <a:cs typeface="Plus Jakarta Sans" pitchFamily="34" charset="-120"/>
              </a:rPr>
              <a:t>57.0</a:t>
            </a:r>
            <a:endParaRPr lang="en-US" sz="1400" dirty="0"/>
          </a:p>
        </p:txBody>
      </p:sp>
      <p:sp>
        <p:nvSpPr>
          <p:cNvPr id="12" name="Shape 10"/>
          <p:cNvSpPr/>
          <p:nvPr/>
        </p:nvSpPr>
        <p:spPr>
          <a:xfrm>
            <a:off x="3086100" y="2376488"/>
            <a:ext cx="889000" cy="2540000"/>
          </a:xfrm>
          <a:custGeom>
            <a:avLst/>
            <a:gdLst/>
            <a:ahLst/>
            <a:cxnLst/>
            <a:rect l="l" t="t" r="r" b="b"/>
            <a:pathLst>
              <a:path w="889000" h="2540000">
                <a:moveTo>
                  <a:pt x="50800" y="0"/>
                </a:moveTo>
                <a:lnTo>
                  <a:pt x="838200" y="0"/>
                </a:lnTo>
                <a:arcTo wR="50800" hR="50800" stAng="16200000" swAng="5400000"/>
                <a:lnTo>
                  <a:pt x="889000" y="2540000"/>
                </a:lnTo>
                <a:lnTo>
                  <a:pt x="0" y="2540000"/>
                </a:lnTo>
                <a:lnTo>
                  <a:pt x="0" y="50800"/>
                </a:lnTo>
                <a:arcTo wR="50800" hR="50800" stAng="10800000" swAng="5400000"/>
                <a:close/>
              </a:path>
            </a:pathLst>
          </a:custGeom>
          <a:solidFill>
            <a:srgbClr val="E8833A"/>
          </a:solidFill>
          <a:ln/>
        </p:spPr>
      </p:sp>
      <p:sp>
        <p:nvSpPr>
          <p:cNvPr id="13" name="Text 11"/>
          <p:cNvSpPr/>
          <p:nvPr/>
        </p:nvSpPr>
        <p:spPr>
          <a:xfrm>
            <a:off x="3291291" y="4916488"/>
            <a:ext cx="47855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Mean</a:t>
            </a:r>
            <a:endParaRPr lang="en-US" sz="1200" dirty="0"/>
          </a:p>
        </p:txBody>
      </p:sp>
      <p:sp>
        <p:nvSpPr>
          <p:cNvPr id="14" name="Text 12"/>
          <p:cNvSpPr/>
          <p:nvPr/>
        </p:nvSpPr>
        <p:spPr>
          <a:xfrm>
            <a:off x="4271414" y="3518235"/>
            <a:ext cx="474107"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262D"/>
                </a:solidFill>
                <a:latin typeface="Plus Jakarta Sans" pitchFamily="34" charset="0"/>
                <a:ea typeface="Plus Jakarta Sans" pitchFamily="34" charset="-122"/>
                <a:cs typeface="Plus Jakarta Sans" pitchFamily="34" charset="-120"/>
              </a:rPr>
              <a:t>25.8</a:t>
            </a:r>
            <a:endParaRPr lang="en-US" sz="1400" dirty="0"/>
          </a:p>
        </p:txBody>
      </p:sp>
      <p:sp>
        <p:nvSpPr>
          <p:cNvPr id="15" name="Shape 13"/>
          <p:cNvSpPr/>
          <p:nvPr/>
        </p:nvSpPr>
        <p:spPr>
          <a:xfrm>
            <a:off x="4064000" y="3767138"/>
            <a:ext cx="889000" cy="1149350"/>
          </a:xfrm>
          <a:custGeom>
            <a:avLst/>
            <a:gdLst/>
            <a:ahLst/>
            <a:cxnLst/>
            <a:rect l="l" t="t" r="r" b="b"/>
            <a:pathLst>
              <a:path w="889000" h="1149350">
                <a:moveTo>
                  <a:pt x="50800" y="0"/>
                </a:moveTo>
                <a:lnTo>
                  <a:pt x="838200" y="0"/>
                </a:lnTo>
                <a:arcTo wR="50800" hR="50800" stAng="16200000" swAng="5400000"/>
                <a:lnTo>
                  <a:pt x="889000" y="1149350"/>
                </a:lnTo>
                <a:lnTo>
                  <a:pt x="0" y="1149350"/>
                </a:lnTo>
                <a:lnTo>
                  <a:pt x="0" y="50800"/>
                </a:lnTo>
                <a:arcTo wR="50800" hR="50800" stAng="10800000" swAng="5400000"/>
                <a:close/>
              </a:path>
            </a:pathLst>
          </a:custGeom>
          <a:solidFill>
            <a:srgbClr val="F5C29B"/>
          </a:solidFill>
          <a:ln/>
        </p:spPr>
      </p:sp>
      <p:sp>
        <p:nvSpPr>
          <p:cNvPr id="16" name="Text 14"/>
          <p:cNvSpPr/>
          <p:nvPr/>
        </p:nvSpPr>
        <p:spPr>
          <a:xfrm>
            <a:off x="4185682" y="4916488"/>
            <a:ext cx="64563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Median</a:t>
            </a:r>
            <a:endParaRPr lang="en-US" sz="1200" dirty="0"/>
          </a:p>
        </p:txBody>
      </p:sp>
      <p:sp>
        <p:nvSpPr>
          <p:cNvPr id="17" name="Text 15"/>
          <p:cNvSpPr/>
          <p:nvPr/>
        </p:nvSpPr>
        <p:spPr>
          <a:xfrm>
            <a:off x="3619262" y="5206008"/>
            <a:ext cx="800576" cy="30982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Casual</a:t>
            </a:r>
            <a:endParaRPr lang="en-US" sz="1600" dirty="0"/>
          </a:p>
        </p:txBody>
      </p:sp>
      <p:sp>
        <p:nvSpPr>
          <p:cNvPr id="18" name="Shape 16"/>
          <p:cNvSpPr/>
          <p:nvPr/>
        </p:nvSpPr>
        <p:spPr>
          <a:xfrm>
            <a:off x="5794375" y="1844613"/>
            <a:ext cx="5581650" cy="1434637"/>
          </a:xfrm>
          <a:prstGeom prst="roundRect">
            <a:avLst>
              <a:gd name="adj" fmla="val 8631"/>
            </a:avLst>
          </a:prstGeom>
          <a:solidFill>
            <a:srgbClr val="FCFBF7"/>
          </a:solidFill>
          <a:ln w="6350">
            <a:solidFill>
              <a:srgbClr val="DCD8CC"/>
            </a:solidFill>
            <a:prstDash val="solid"/>
          </a:ln>
        </p:spPr>
      </p:sp>
      <p:sp>
        <p:nvSpPr>
          <p:cNvPr id="19" name="Text 17"/>
          <p:cNvSpPr/>
          <p:nvPr/>
        </p:nvSpPr>
        <p:spPr>
          <a:xfrm>
            <a:off x="6024033" y="2074267"/>
            <a:ext cx="5276003"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4510C"/>
                </a:solidFill>
                <a:latin typeface="Plus Jakarta Sans" pitchFamily="34" charset="0"/>
                <a:ea typeface="Plus Jakarta Sans" pitchFamily="34" charset="-122"/>
                <a:cs typeface="Plus Jakarta Sans" pitchFamily="34" charset="-120"/>
              </a:rPr>
              <a:t>4.0×</a:t>
            </a:r>
            <a:endParaRPr lang="en-US" sz="4800" dirty="0"/>
          </a:p>
        </p:txBody>
      </p:sp>
      <p:sp>
        <p:nvSpPr>
          <p:cNvPr id="20" name="Text 18"/>
          <p:cNvSpPr/>
          <p:nvPr/>
        </p:nvSpPr>
        <p:spPr>
          <a:xfrm>
            <a:off x="6024033" y="2782888"/>
            <a:ext cx="527600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62D"/>
                </a:solidFill>
                <a:latin typeface="Plus Jakarta Sans" pitchFamily="34" charset="0"/>
                <a:ea typeface="Plus Jakarta Sans" pitchFamily="34" charset="-122"/>
                <a:cs typeface="Plus Jakarta Sans" pitchFamily="34" charset="-120"/>
              </a:rPr>
              <a:t>longer rides on average: 57.0 vs. 14.3 minutes</a:t>
            </a:r>
            <a:endParaRPr lang="en-US" sz="1500" dirty="0"/>
          </a:p>
        </p:txBody>
      </p:sp>
      <p:sp>
        <p:nvSpPr>
          <p:cNvPr id="21" name="Shape 19"/>
          <p:cNvSpPr/>
          <p:nvPr/>
        </p:nvSpPr>
        <p:spPr>
          <a:xfrm>
            <a:off x="5794375" y="3437998"/>
            <a:ext cx="5581650" cy="1434637"/>
          </a:xfrm>
          <a:prstGeom prst="roundRect">
            <a:avLst>
              <a:gd name="adj" fmla="val 8631"/>
            </a:avLst>
          </a:prstGeom>
          <a:solidFill>
            <a:srgbClr val="FCFBF7"/>
          </a:solidFill>
          <a:ln w="6350">
            <a:solidFill>
              <a:srgbClr val="DCD8CC"/>
            </a:solidFill>
            <a:prstDash val="solid"/>
          </a:ln>
        </p:spPr>
      </p:sp>
      <p:sp>
        <p:nvSpPr>
          <p:cNvPr id="22" name="Text 20"/>
          <p:cNvSpPr/>
          <p:nvPr/>
        </p:nvSpPr>
        <p:spPr>
          <a:xfrm>
            <a:off x="6024033" y="3667658"/>
            <a:ext cx="5276003"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4510C"/>
                </a:solidFill>
                <a:latin typeface="Plus Jakarta Sans" pitchFamily="34" charset="0"/>
                <a:ea typeface="Plus Jakarta Sans" pitchFamily="34" charset="-122"/>
                <a:cs typeface="Plus Jakarta Sans" pitchFamily="34" charset="-120"/>
              </a:rPr>
              <a:t>2.6×</a:t>
            </a:r>
            <a:endParaRPr lang="en-US" sz="4800" dirty="0"/>
          </a:p>
        </p:txBody>
      </p:sp>
      <p:sp>
        <p:nvSpPr>
          <p:cNvPr id="23" name="Text 21"/>
          <p:cNvSpPr/>
          <p:nvPr/>
        </p:nvSpPr>
        <p:spPr>
          <a:xfrm>
            <a:off x="6024033" y="4376279"/>
            <a:ext cx="527600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62D"/>
                </a:solidFill>
                <a:latin typeface="Plus Jakarta Sans" pitchFamily="34" charset="0"/>
                <a:ea typeface="Plus Jakarta Sans" pitchFamily="34" charset="-122"/>
                <a:cs typeface="Plus Jakarta Sans" pitchFamily="34" charset="-120"/>
              </a:rPr>
              <a:t>longer at the median: 25.8 vs. 9.8 minutes</a:t>
            </a:r>
            <a:endParaRPr lang="en-US" sz="1500" dirty="0"/>
          </a:p>
        </p:txBody>
      </p:sp>
      <p:sp>
        <p:nvSpPr>
          <p:cNvPr id="24" name="Text 22"/>
          <p:cNvSpPr/>
          <p:nvPr/>
        </p:nvSpPr>
        <p:spPr>
          <a:xfrm>
            <a:off x="5791200" y="5028208"/>
            <a:ext cx="5755640"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870"/>
                </a:solidFill>
                <a:latin typeface="Plus Jakarta Sans" pitchFamily="34" charset="0"/>
                <a:ea typeface="Plus Jakarta Sans" pitchFamily="34" charset="-122"/>
                <a:cs typeface="Plus Jakarta Sans" pitchFamily="34" charset="-120"/>
              </a:rPr>
              <a:t>The mean is pulled up by a few very long rides. The median shows the typical ride.</a:t>
            </a:r>
            <a:endParaRPr lang="en-US" sz="13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26" name="Text 24"/>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833A"/>
        </a:solidFill>
        <a:effectLst/>
      </p:bgPr>
    </p:bg>
    <p:spTree>
      <p:nvGrpSpPr>
        <p:cNvPr id="1" name=""/>
        <p:cNvGrpSpPr/>
        <p:nvPr/>
      </p:nvGrpSpPr>
      <p:grpSpPr>
        <a:xfrm>
          <a:off x="0" y="0"/>
          <a:ext cx="0" cy="0"/>
          <a:chOff x="0" y="0"/>
          <a:chExt cx="0" cy="0"/>
        </a:xfrm>
      </p:grpSpPr>
      <p:sp>
        <p:nvSpPr>
          <p:cNvPr id="2" name="Text 0"/>
          <p:cNvSpPr/>
          <p:nvPr/>
        </p:nvSpPr>
        <p:spPr>
          <a:xfrm>
            <a:off x="812800" y="14795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2A1A0C"/>
                </a:solidFill>
                <a:latin typeface="Plus Jakarta Sans" pitchFamily="34" charset="0"/>
                <a:ea typeface="Plus Jakarta Sans" pitchFamily="34" charset="-122"/>
                <a:cs typeface="Plus Jakarta Sans" pitchFamily="34" charset="-120"/>
              </a:rPr>
              <a:t>SECTION</a:t>
            </a:r>
            <a:endParaRPr lang="en-US" sz="1500" dirty="0"/>
          </a:p>
        </p:txBody>
      </p:sp>
      <p:sp>
        <p:nvSpPr>
          <p:cNvPr id="3" name="Text 1"/>
          <p:cNvSpPr/>
          <p:nvPr/>
        </p:nvSpPr>
        <p:spPr>
          <a:xfrm>
            <a:off x="812800" y="1873250"/>
            <a:ext cx="10883392" cy="1930400"/>
          </a:xfrm>
          <a:prstGeom prst="rect">
            <a:avLst/>
          </a:prstGeom>
          <a:noFill/>
          <a:ln/>
        </p:spPr>
        <p:txBody>
          <a:bodyPr wrap="square" lIns="0" tIns="0" rIns="0" bIns="0" rtlCol="0" anchor="t">
            <a:normAutofit/>
          </a:bodyPr>
          <a:lstStyle/>
          <a:p>
            <a:pPr marL="0" indent="0" algn="l">
              <a:lnSpc>
                <a:spcPts val="15000"/>
              </a:lnSpc>
              <a:buNone/>
            </a:pPr>
            <a:r>
              <a:rPr lang="en-US" sz="15000" b="1" dirty="0">
                <a:solidFill>
                  <a:srgbClr val="0E2A34"/>
                </a:solidFill>
                <a:latin typeface="Plus Jakarta Sans" pitchFamily="34" charset="0"/>
                <a:ea typeface="Plus Jakarta Sans" pitchFamily="34" charset="-122"/>
                <a:cs typeface="Plus Jakarta Sans" pitchFamily="34" charset="-120"/>
              </a:rPr>
              <a:t>04</a:t>
            </a:r>
            <a:endParaRPr lang="en-US" sz="15000" dirty="0"/>
          </a:p>
        </p:txBody>
      </p:sp>
      <p:sp>
        <p:nvSpPr>
          <p:cNvPr id="4" name="Text 2"/>
          <p:cNvSpPr>
            <a:spLocks noGrp="1"/>
          </p:cNvSpPr>
          <p:nvPr>
            <p:ph type="title"/>
          </p:nvPr>
        </p:nvSpPr>
        <p:spPr>
          <a:xfrm>
            <a:off x="812800" y="3905250"/>
            <a:ext cx="6540500"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0E2A34"/>
                </a:solidFill>
                <a:latin typeface="Plus Jakarta Sans" pitchFamily="34" charset="0"/>
                <a:ea typeface="Plus Jakarta Sans" pitchFamily="34" charset="-122"/>
                <a:cs typeface="Plus Jakarta Sans" pitchFamily="34" charset="-120"/>
              </a:rPr>
              <a:t>Aha moment</a:t>
            </a:r>
            <a:endParaRPr lang="en-US" sz="4800" dirty="0"/>
          </a:p>
        </p:txBody>
      </p:sp>
      <p:sp>
        <p:nvSpPr>
          <p:cNvPr id="5" name="Text 3"/>
          <p:cNvSpPr/>
          <p:nvPr/>
        </p:nvSpPr>
        <p:spPr>
          <a:xfrm>
            <a:off x="812800" y="4702770"/>
            <a:ext cx="6540500" cy="701014"/>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2A1A0C"/>
                </a:solidFill>
                <a:latin typeface="Plus Jakarta Sans" pitchFamily="34" charset="0"/>
                <a:ea typeface="Plus Jakarta Sans" pitchFamily="34" charset="-122"/>
                <a:cs typeface="Plus Jakarta Sans" pitchFamily="34" charset="-120"/>
              </a:rPr>
              <a:t>Casual riders make a quarter of the rides but carry over half of the riding time.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1751"/>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AHA MOMENT</a:t>
            </a:r>
            <a:endParaRPr lang="en-US" sz="1300" dirty="0"/>
          </a:p>
        </p:txBody>
      </p:sp>
      <p:sp>
        <p:nvSpPr>
          <p:cNvPr id="3" name="Text 1"/>
          <p:cNvSpPr>
            <a:spLocks noGrp="1"/>
          </p:cNvSpPr>
          <p:nvPr>
            <p:ph type="title"/>
          </p:nvPr>
        </p:nvSpPr>
        <p:spPr>
          <a:xfrm>
            <a:off x="812800" y="1115355"/>
            <a:ext cx="10883392" cy="483129"/>
          </a:xfrm>
          <a:prstGeom prst="rect">
            <a:avLst/>
          </a:prstGeom>
          <a:noFill/>
          <a:ln/>
        </p:spPr>
        <p:txBody>
          <a:bodyPr wrap="square" lIns="0" tIns="0" rIns="0" bIns="0" rtlCol="0" anchor="t">
            <a:normAutofit/>
          </a:bodyPr>
          <a:lstStyle/>
          <a:p>
            <a:pPr marL="0" indent="0" algn="l">
              <a:lnSpc>
                <a:spcPts val="3622"/>
              </a:lnSpc>
              <a:buNone/>
            </a:pPr>
            <a:r>
              <a:rPr lang="en-US" sz="3150" b="1" i="0" dirty="0">
                <a:solidFill>
                  <a:srgbClr val="14262D"/>
                </a:solidFill>
                <a:latin typeface="Plus Jakarta Sans" pitchFamily="34" charset="0"/>
                <a:ea typeface="Plus Jakarta Sans" pitchFamily="34" charset="-122"/>
                <a:cs typeface="Plus Jakarta Sans" pitchFamily="34" charset="-120"/>
              </a:rPr>
              <a:t>Share of rides vs. share of ride time</a:t>
            </a:r>
            <a:endParaRPr lang="en-US" sz="3150" dirty="0"/>
          </a:p>
        </p:txBody>
      </p:sp>
      <p:sp>
        <p:nvSpPr>
          <p:cNvPr id="4" name="Shape 2"/>
          <p:cNvSpPr/>
          <p:nvPr/>
        </p:nvSpPr>
        <p:spPr>
          <a:xfrm>
            <a:off x="812800" y="1860290"/>
            <a:ext cx="177800" cy="177800"/>
          </a:xfrm>
          <a:prstGeom prst="roundRect">
            <a:avLst>
              <a:gd name="adj" fmla="val 21429"/>
            </a:avLst>
          </a:prstGeom>
          <a:solidFill>
            <a:srgbClr val="1F6F85"/>
          </a:solidFill>
          <a:ln/>
        </p:spPr>
      </p:sp>
      <p:sp>
        <p:nvSpPr>
          <p:cNvPr id="5" name="Text 3"/>
          <p:cNvSpPr/>
          <p:nvPr/>
        </p:nvSpPr>
        <p:spPr>
          <a:xfrm>
            <a:off x="1066800" y="1824769"/>
            <a:ext cx="96567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Members</a:t>
            </a:r>
            <a:endParaRPr lang="en-US" sz="1400" dirty="0"/>
          </a:p>
        </p:txBody>
      </p:sp>
      <p:sp>
        <p:nvSpPr>
          <p:cNvPr id="6" name="Shape 4"/>
          <p:cNvSpPr/>
          <p:nvPr/>
        </p:nvSpPr>
        <p:spPr>
          <a:xfrm>
            <a:off x="2100130" y="1860290"/>
            <a:ext cx="177800" cy="177800"/>
          </a:xfrm>
          <a:prstGeom prst="roundRect">
            <a:avLst>
              <a:gd name="adj" fmla="val 21429"/>
            </a:avLst>
          </a:prstGeom>
          <a:solidFill>
            <a:srgbClr val="E8833A"/>
          </a:solidFill>
          <a:ln/>
        </p:spPr>
      </p:sp>
      <p:sp>
        <p:nvSpPr>
          <p:cNvPr id="7" name="Text 5"/>
          <p:cNvSpPr/>
          <p:nvPr/>
        </p:nvSpPr>
        <p:spPr>
          <a:xfrm>
            <a:off x="2354130" y="1824769"/>
            <a:ext cx="69278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Casual</a:t>
            </a:r>
            <a:endParaRPr lang="en-US" sz="1400" dirty="0"/>
          </a:p>
        </p:txBody>
      </p:sp>
      <p:sp>
        <p:nvSpPr>
          <p:cNvPr id="8" name="Text 6"/>
          <p:cNvSpPr/>
          <p:nvPr/>
        </p:nvSpPr>
        <p:spPr>
          <a:xfrm>
            <a:off x="812800" y="2569567"/>
            <a:ext cx="1320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Rides</a:t>
            </a:r>
            <a:endParaRPr lang="en-US" sz="1600" dirty="0"/>
          </a:p>
        </p:txBody>
      </p:sp>
      <p:sp>
        <p:nvSpPr>
          <p:cNvPr id="9" name="Text 7"/>
          <p:cNvSpPr/>
          <p:nvPr/>
        </p:nvSpPr>
        <p:spPr>
          <a:xfrm>
            <a:off x="2260600" y="2318085"/>
            <a:ext cx="6793574" cy="787400"/>
          </a:xfrm>
          <a:custGeom>
            <a:avLst/>
            <a:gdLst/>
            <a:ahLst/>
            <a:cxnLst/>
            <a:rect l="l" t="t" r="r" b="b"/>
            <a:pathLst>
              <a:path w="6793574" h="787400">
                <a:moveTo>
                  <a:pt x="101600" y="0"/>
                </a:moveTo>
                <a:lnTo>
                  <a:pt x="6793574" y="0"/>
                </a:lnTo>
                <a:lnTo>
                  <a:pt x="6793574" y="787400"/>
                </a:lnTo>
                <a:lnTo>
                  <a:pt x="101600" y="787400"/>
                </a:lnTo>
                <a:arcTo wR="101600" hR="101600" stAng="5400000" swAng="5400000"/>
                <a:lnTo>
                  <a:pt x="0" y="101600"/>
                </a:lnTo>
                <a:arcTo wR="101600" hR="101600" stAng="10800000" swAng="5400000"/>
                <a:close/>
              </a:path>
            </a:pathLst>
          </a:custGeom>
          <a:solidFill>
            <a:srgbClr val="1F6F85"/>
          </a:solidFill>
          <a:ln/>
        </p:spPr>
        <p:txBody>
          <a:bodyPr wrap="square" lIns="203200" tIns="215900" rIns="11585" bIns="190500" rtlCol="0" anchor="t">
            <a:normAutofit/>
          </a:bodyPr>
          <a:lstStyle/>
          <a:p>
            <a:pPr marL="0" indent="0" algn="l">
              <a:lnSpc>
                <a:spcPts val="2800"/>
              </a:lnSpc>
              <a:buNone/>
            </a:pPr>
            <a:r>
              <a:rPr lang="en-US" sz="2000" b="1" dirty="0">
                <a:solidFill>
                  <a:srgbClr val="F5F3EC"/>
                </a:solidFill>
                <a:latin typeface="Plus Jakarta Sans" pitchFamily="34" charset="0"/>
                <a:ea typeface="Plus Jakarta Sans" pitchFamily="34" charset="-122"/>
                <a:cs typeface="Plus Jakarta Sans" pitchFamily="34" charset="-120"/>
              </a:rPr>
              <a:t>76.9%</a:t>
            </a:r>
            <a:endParaRPr lang="en-US" sz="2000" dirty="0"/>
          </a:p>
        </p:txBody>
      </p:sp>
      <p:sp>
        <p:nvSpPr>
          <p:cNvPr id="10" name="Text 8"/>
          <p:cNvSpPr/>
          <p:nvPr/>
        </p:nvSpPr>
        <p:spPr>
          <a:xfrm>
            <a:off x="9054174" y="2318085"/>
            <a:ext cx="2325026" cy="787400"/>
          </a:xfrm>
          <a:custGeom>
            <a:avLst/>
            <a:gdLst/>
            <a:ahLst/>
            <a:cxnLst/>
            <a:rect l="l" t="t" r="r" b="b"/>
            <a:pathLst>
              <a:path w="2325026" h="787400">
                <a:moveTo>
                  <a:pt x="0" y="0"/>
                </a:moveTo>
                <a:lnTo>
                  <a:pt x="2223426" y="0"/>
                </a:lnTo>
                <a:arcTo wR="101600" hR="101600" stAng="16200000" swAng="5400000"/>
                <a:lnTo>
                  <a:pt x="2325026" y="685800"/>
                </a:lnTo>
                <a:arcTo wR="101600" hR="101600" stAng="0" swAng="5400000"/>
                <a:lnTo>
                  <a:pt x="0" y="787400"/>
                </a:lnTo>
                <a:lnTo>
                  <a:pt x="0" y="0"/>
                </a:lnTo>
                <a:close/>
              </a:path>
            </a:pathLst>
          </a:custGeom>
          <a:solidFill>
            <a:srgbClr val="E8833A"/>
          </a:solidFill>
          <a:ln/>
        </p:spPr>
        <p:txBody>
          <a:bodyPr wrap="square" lIns="203200" tIns="215900" rIns="145641" bIns="190500" rtlCol="0" anchor="t">
            <a:normAutofit/>
          </a:bodyPr>
          <a:lstStyle/>
          <a:p>
            <a:pPr marL="0" indent="0" algn="l">
              <a:lnSpc>
                <a:spcPts val="2800"/>
              </a:lnSpc>
              <a:buNone/>
            </a:pPr>
            <a:r>
              <a:rPr lang="en-US" sz="2000" b="1" dirty="0">
                <a:solidFill>
                  <a:srgbClr val="14262D"/>
                </a:solidFill>
                <a:latin typeface="Plus Jakarta Sans" pitchFamily="34" charset="0"/>
                <a:ea typeface="Plus Jakarta Sans" pitchFamily="34" charset="-122"/>
                <a:cs typeface="Plus Jakarta Sans" pitchFamily="34" charset="-120"/>
              </a:rPr>
              <a:t>23.1%</a:t>
            </a:r>
            <a:endParaRPr lang="en-US" sz="2000" dirty="0"/>
          </a:p>
        </p:txBody>
      </p:sp>
      <p:sp>
        <p:nvSpPr>
          <p:cNvPr id="11" name="Text 9"/>
          <p:cNvSpPr/>
          <p:nvPr/>
        </p:nvSpPr>
        <p:spPr>
          <a:xfrm>
            <a:off x="812800" y="3596357"/>
            <a:ext cx="1320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62D"/>
                </a:solidFill>
                <a:latin typeface="Plus Jakarta Sans" pitchFamily="34" charset="0"/>
                <a:ea typeface="Plus Jakarta Sans" pitchFamily="34" charset="-122"/>
                <a:cs typeface="Plus Jakarta Sans" pitchFamily="34" charset="-120"/>
              </a:rPr>
              <a:t>Ride time</a:t>
            </a:r>
            <a:endParaRPr lang="en-US" sz="1600" dirty="0"/>
          </a:p>
        </p:txBody>
      </p:sp>
      <p:sp>
        <p:nvSpPr>
          <p:cNvPr id="12" name="Text 10"/>
          <p:cNvSpPr/>
          <p:nvPr/>
        </p:nvSpPr>
        <p:spPr>
          <a:xfrm>
            <a:off x="2260600" y="3344937"/>
            <a:ext cx="4193844" cy="787400"/>
          </a:xfrm>
          <a:custGeom>
            <a:avLst/>
            <a:gdLst/>
            <a:ahLst/>
            <a:cxnLst/>
            <a:rect l="l" t="t" r="r" b="b"/>
            <a:pathLst>
              <a:path w="4193844" h="787400">
                <a:moveTo>
                  <a:pt x="101600" y="0"/>
                </a:moveTo>
                <a:lnTo>
                  <a:pt x="4193844" y="0"/>
                </a:lnTo>
                <a:lnTo>
                  <a:pt x="4193844" y="787400"/>
                </a:lnTo>
                <a:lnTo>
                  <a:pt x="101600" y="787400"/>
                </a:lnTo>
                <a:arcTo wR="101600" hR="101600" stAng="5400000" swAng="5400000"/>
                <a:lnTo>
                  <a:pt x="0" y="101600"/>
                </a:lnTo>
                <a:arcTo wR="101600" hR="101600" stAng="10800000" swAng="5400000"/>
                <a:close/>
              </a:path>
            </a:pathLst>
          </a:custGeom>
          <a:solidFill>
            <a:srgbClr val="1F6F85"/>
          </a:solidFill>
          <a:ln/>
        </p:spPr>
        <p:txBody>
          <a:bodyPr wrap="square" lIns="203200" tIns="215900" rIns="89577" bIns="190500" rtlCol="0" anchor="t">
            <a:normAutofit/>
          </a:bodyPr>
          <a:lstStyle/>
          <a:p>
            <a:pPr marL="0" indent="0" algn="l">
              <a:lnSpc>
                <a:spcPts val="2800"/>
              </a:lnSpc>
              <a:buNone/>
            </a:pPr>
            <a:r>
              <a:rPr lang="en-US" sz="2000" b="1" dirty="0">
                <a:solidFill>
                  <a:srgbClr val="F5F3EC"/>
                </a:solidFill>
                <a:latin typeface="Plus Jakarta Sans" pitchFamily="34" charset="0"/>
                <a:ea typeface="Plus Jakarta Sans" pitchFamily="34" charset="-122"/>
                <a:cs typeface="Plus Jakarta Sans" pitchFamily="34" charset="-120"/>
              </a:rPr>
              <a:t>45.6%</a:t>
            </a:r>
            <a:endParaRPr lang="en-US" sz="2000" dirty="0"/>
          </a:p>
        </p:txBody>
      </p:sp>
      <p:sp>
        <p:nvSpPr>
          <p:cNvPr id="13" name="Text 11"/>
          <p:cNvSpPr/>
          <p:nvPr/>
        </p:nvSpPr>
        <p:spPr>
          <a:xfrm>
            <a:off x="6454444" y="3344937"/>
            <a:ext cx="4924756" cy="787400"/>
          </a:xfrm>
          <a:custGeom>
            <a:avLst/>
            <a:gdLst/>
            <a:ahLst/>
            <a:cxnLst/>
            <a:rect l="l" t="t" r="r" b="b"/>
            <a:pathLst>
              <a:path w="4924756" h="787400">
                <a:moveTo>
                  <a:pt x="0" y="0"/>
                </a:moveTo>
                <a:lnTo>
                  <a:pt x="4823156" y="0"/>
                </a:lnTo>
                <a:arcTo wR="101600" hR="101600" stAng="16200000" swAng="5400000"/>
                <a:lnTo>
                  <a:pt x="4924756" y="685800"/>
                </a:lnTo>
                <a:arcTo wR="101600" hR="101600" stAng="0" swAng="5400000"/>
                <a:lnTo>
                  <a:pt x="0" y="787400"/>
                </a:lnTo>
                <a:lnTo>
                  <a:pt x="0" y="0"/>
                </a:lnTo>
                <a:close/>
              </a:path>
            </a:pathLst>
          </a:custGeom>
          <a:solidFill>
            <a:srgbClr val="E8833A"/>
          </a:solidFill>
          <a:ln/>
        </p:spPr>
        <p:txBody>
          <a:bodyPr wrap="square" lIns="203200" tIns="215900" rIns="67649" bIns="190500" rtlCol="0" anchor="t">
            <a:normAutofit/>
          </a:bodyPr>
          <a:lstStyle/>
          <a:p>
            <a:pPr marL="0" indent="0" algn="l">
              <a:lnSpc>
                <a:spcPts val="2800"/>
              </a:lnSpc>
              <a:buNone/>
            </a:pPr>
            <a:r>
              <a:rPr lang="en-US" sz="2000" b="1" dirty="0">
                <a:solidFill>
                  <a:srgbClr val="14262D"/>
                </a:solidFill>
                <a:latin typeface="Plus Jakarta Sans" pitchFamily="34" charset="0"/>
                <a:ea typeface="Plus Jakarta Sans" pitchFamily="34" charset="-122"/>
                <a:cs typeface="Plus Jakarta Sans" pitchFamily="34" charset="-120"/>
              </a:rPr>
              <a:t>54.4%</a:t>
            </a:r>
            <a:endParaRPr lang="en-US" sz="2000" dirty="0"/>
          </a:p>
        </p:txBody>
      </p:sp>
      <p:sp>
        <p:nvSpPr>
          <p:cNvPr id="14" name="Text 12"/>
          <p:cNvSpPr/>
          <p:nvPr/>
        </p:nvSpPr>
        <p:spPr>
          <a:xfrm>
            <a:off x="812800" y="4378995"/>
            <a:ext cx="10566400" cy="999662"/>
          </a:xfrm>
          <a:prstGeom prst="roundRect">
            <a:avLst>
              <a:gd name="adj" fmla="val 12704"/>
            </a:avLst>
          </a:prstGeom>
          <a:solidFill>
            <a:srgbClr val="0E2A34"/>
          </a:solidFill>
          <a:ln/>
        </p:spPr>
        <p:txBody>
          <a:bodyPr wrap="square" lIns="216803" tIns="166003" rIns="0" bIns="140603" rtlCol="0" anchor="t">
            <a:normAutofit/>
          </a:bodyPr>
          <a:lstStyle/>
          <a:p>
            <a:pPr marL="0" indent="0" algn="l">
              <a:lnSpc>
                <a:spcPts val="2335"/>
              </a:lnSpc>
              <a:buNone/>
            </a:pPr>
            <a:r>
              <a:rPr lang="en-US" sz="1668" b="1" dirty="0">
                <a:solidFill>
                  <a:srgbClr val="F5F3EC"/>
                </a:solidFill>
                <a:latin typeface="Plus Jakarta Sans" pitchFamily="34" charset="0"/>
                <a:ea typeface="Plus Jakarta Sans" pitchFamily="34" charset="-122"/>
                <a:cs typeface="Plus Jakarta Sans" pitchFamily="34" charset="-120"/>
              </a:rPr>
              <a:t>Casual riders are 23% of rides but about 54% of all time spent riding. They are worth more attention than their ride count suggests.</a:t>
            </a:r>
            <a:endParaRPr lang="en-US" sz="1668" dirty="0"/>
          </a:p>
        </p:txBody>
      </p:sp>
      <p:sp>
        <p:nvSpPr>
          <p:cNvPr id="15" name="Text 13"/>
          <p:cNvSpPr/>
          <p:nvPr/>
        </p:nvSpPr>
        <p:spPr>
          <a:xfrm>
            <a:off x="812800" y="5632648"/>
            <a:ext cx="10883392" cy="234752"/>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566870"/>
                </a:solidFill>
                <a:latin typeface="Plus Jakarta Sans" pitchFamily="34" charset="0"/>
                <a:ea typeface="Plus Jakarta Sans" pitchFamily="34" charset="-122"/>
                <a:cs typeface="Plus Jakarta Sans" pitchFamily="34" charset="-120"/>
              </a:rPr>
              <a:t>Ride time = rides × mean ride length. Includes very long rides, which were kept in the data.</a:t>
            </a:r>
            <a:endParaRPr lang="en-US" sz="1196"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AHA MOMENT</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Two riding profiles</a:t>
            </a:r>
            <a:endParaRPr lang="en-US" sz="3200" dirty="0"/>
          </a:p>
        </p:txBody>
      </p:sp>
      <p:sp>
        <p:nvSpPr>
          <p:cNvPr id="4" name="Shape 2"/>
          <p:cNvSpPr/>
          <p:nvPr/>
        </p:nvSpPr>
        <p:spPr>
          <a:xfrm>
            <a:off x="815975" y="1844613"/>
            <a:ext cx="5175250" cy="2663825"/>
          </a:xfrm>
          <a:prstGeom prst="roundRect">
            <a:avLst>
              <a:gd name="adj" fmla="val 4648"/>
            </a:avLst>
          </a:prstGeom>
          <a:solidFill>
            <a:srgbClr val="FCFBF7"/>
          </a:solidFill>
          <a:ln w="6350">
            <a:solidFill>
              <a:srgbClr val="DCD8CC"/>
            </a:solidFill>
            <a:prstDash val="solid"/>
          </a:ln>
        </p:spPr>
      </p:sp>
      <p:sp>
        <p:nvSpPr>
          <p:cNvPr id="5" name="Text 3"/>
          <p:cNvSpPr/>
          <p:nvPr/>
        </p:nvSpPr>
        <p:spPr>
          <a:xfrm>
            <a:off x="1071033" y="2074267"/>
            <a:ext cx="480508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62D"/>
                </a:solidFill>
                <a:latin typeface="Plus Jakarta Sans" pitchFamily="34" charset="0"/>
                <a:ea typeface="Plus Jakarta Sans" pitchFamily="34" charset="-122"/>
                <a:cs typeface="Plus Jakarta Sans" pitchFamily="34" charset="-120"/>
              </a:rPr>
              <a:t>Members: the weekday rider</a:t>
            </a:r>
            <a:endParaRPr lang="en-US" sz="2000" dirty="0"/>
          </a:p>
        </p:txBody>
      </p:sp>
      <p:sp>
        <p:nvSpPr>
          <p:cNvPr id="6" name="Text 4"/>
          <p:cNvSpPr/>
          <p:nvPr/>
        </p:nvSpPr>
        <p:spPr>
          <a:xfrm>
            <a:off x="1071033" y="2518767"/>
            <a:ext cx="1962150"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F6F85"/>
                </a:solidFill>
                <a:latin typeface="Plus Jakarta Sans" pitchFamily="34" charset="0"/>
                <a:ea typeface="Plus Jakarta Sans" pitchFamily="34" charset="-122"/>
                <a:cs typeface="Plus Jakarta Sans" pitchFamily="34" charset="-120"/>
              </a:rPr>
              <a:t>81.5%</a:t>
            </a:r>
            <a:endParaRPr lang="en-US" sz="2400" dirty="0"/>
          </a:p>
        </p:txBody>
      </p:sp>
      <p:sp>
        <p:nvSpPr>
          <p:cNvPr id="7" name="Text 5"/>
          <p:cNvSpPr/>
          <p:nvPr/>
        </p:nvSpPr>
        <p:spPr>
          <a:xfrm>
            <a:off x="3128433" y="2561903"/>
            <a:ext cx="212574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of rides on weekdays</a:t>
            </a:r>
            <a:endParaRPr lang="en-US" sz="1400" dirty="0"/>
          </a:p>
        </p:txBody>
      </p:sp>
      <p:sp>
        <p:nvSpPr>
          <p:cNvPr id="8" name="Text 6"/>
          <p:cNvSpPr/>
          <p:nvPr/>
        </p:nvSpPr>
        <p:spPr>
          <a:xfrm>
            <a:off x="1071033" y="2993703"/>
            <a:ext cx="1962150"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F6F85"/>
                </a:solidFill>
                <a:latin typeface="Plus Jakarta Sans" pitchFamily="34" charset="0"/>
                <a:ea typeface="Plus Jakarta Sans" pitchFamily="34" charset="-122"/>
                <a:cs typeface="Plus Jakarta Sans" pitchFamily="34" charset="-120"/>
              </a:rPr>
              <a:t>9.8 min</a:t>
            </a:r>
            <a:endParaRPr lang="en-US" sz="2400" dirty="0"/>
          </a:p>
        </p:txBody>
      </p:sp>
      <p:sp>
        <p:nvSpPr>
          <p:cNvPr id="9" name="Text 7"/>
          <p:cNvSpPr/>
          <p:nvPr/>
        </p:nvSpPr>
        <p:spPr>
          <a:xfrm>
            <a:off x="3128433" y="3036825"/>
            <a:ext cx="187610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median ride length</a:t>
            </a:r>
            <a:endParaRPr lang="en-US" sz="1400" dirty="0"/>
          </a:p>
        </p:txBody>
      </p:sp>
      <p:sp>
        <p:nvSpPr>
          <p:cNvPr id="10" name="Text 8"/>
          <p:cNvSpPr/>
          <p:nvPr/>
        </p:nvSpPr>
        <p:spPr>
          <a:xfrm>
            <a:off x="1071033" y="3468625"/>
            <a:ext cx="1962150"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F6F85"/>
                </a:solidFill>
                <a:latin typeface="Plus Jakarta Sans" pitchFamily="34" charset="0"/>
                <a:ea typeface="Plus Jakarta Sans" pitchFamily="34" charset="-122"/>
                <a:cs typeface="Plus Jakarta Sans" pitchFamily="34" charset="-120"/>
              </a:rPr>
              <a:t>Tuesday</a:t>
            </a:r>
            <a:endParaRPr lang="en-US" sz="2400" dirty="0"/>
          </a:p>
        </p:txBody>
      </p:sp>
      <p:sp>
        <p:nvSpPr>
          <p:cNvPr id="11" name="Text 9"/>
          <p:cNvSpPr/>
          <p:nvPr/>
        </p:nvSpPr>
        <p:spPr>
          <a:xfrm>
            <a:off x="3128433" y="3511748"/>
            <a:ext cx="230155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busiest day, 497K rides</a:t>
            </a:r>
            <a:endParaRPr lang="en-US" sz="1400" dirty="0"/>
          </a:p>
        </p:txBody>
      </p:sp>
      <p:sp>
        <p:nvSpPr>
          <p:cNvPr id="12" name="Text 10"/>
          <p:cNvSpPr/>
          <p:nvPr/>
        </p:nvSpPr>
        <p:spPr>
          <a:xfrm>
            <a:off x="1071033" y="3943548"/>
            <a:ext cx="1962150"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F6F85"/>
                </a:solidFill>
                <a:latin typeface="Plus Jakarta Sans" pitchFamily="34" charset="0"/>
                <a:ea typeface="Plus Jakarta Sans" pitchFamily="34" charset="-122"/>
                <a:cs typeface="Plus Jakarta Sans" pitchFamily="34" charset="-120"/>
              </a:rPr>
              <a:t>2.94M</a:t>
            </a:r>
            <a:endParaRPr lang="en-US" sz="2400" dirty="0"/>
          </a:p>
        </p:txBody>
      </p:sp>
      <p:sp>
        <p:nvSpPr>
          <p:cNvPr id="13" name="Text 11"/>
          <p:cNvSpPr/>
          <p:nvPr/>
        </p:nvSpPr>
        <p:spPr>
          <a:xfrm>
            <a:off x="3128433" y="3986684"/>
            <a:ext cx="123753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rides in 2019</a:t>
            </a:r>
            <a:endParaRPr lang="en-US" sz="1400" dirty="0"/>
          </a:p>
        </p:txBody>
      </p:sp>
      <p:sp>
        <p:nvSpPr>
          <p:cNvPr id="14" name="Shape 12"/>
          <p:cNvSpPr/>
          <p:nvPr/>
        </p:nvSpPr>
        <p:spPr>
          <a:xfrm>
            <a:off x="6200775" y="1844613"/>
            <a:ext cx="5175250" cy="2663825"/>
          </a:xfrm>
          <a:prstGeom prst="roundRect">
            <a:avLst>
              <a:gd name="adj" fmla="val 4648"/>
            </a:avLst>
          </a:prstGeom>
          <a:solidFill>
            <a:srgbClr val="FCFBF7"/>
          </a:solidFill>
          <a:ln w="6350">
            <a:solidFill>
              <a:srgbClr val="DCD8CC"/>
            </a:solidFill>
            <a:prstDash val="solid"/>
          </a:ln>
        </p:spPr>
      </p:sp>
      <p:sp>
        <p:nvSpPr>
          <p:cNvPr id="15" name="Text 13"/>
          <p:cNvSpPr/>
          <p:nvPr/>
        </p:nvSpPr>
        <p:spPr>
          <a:xfrm>
            <a:off x="6455833" y="2074267"/>
            <a:ext cx="480508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62D"/>
                </a:solidFill>
                <a:latin typeface="Plus Jakarta Sans" pitchFamily="34" charset="0"/>
                <a:ea typeface="Plus Jakarta Sans" pitchFamily="34" charset="-122"/>
                <a:cs typeface="Plus Jakarta Sans" pitchFamily="34" charset="-120"/>
              </a:rPr>
              <a:t>Casual: the weekend rider</a:t>
            </a:r>
            <a:endParaRPr lang="en-US" sz="2000" dirty="0"/>
          </a:p>
        </p:txBody>
      </p:sp>
      <p:sp>
        <p:nvSpPr>
          <p:cNvPr id="16" name="Text 14"/>
          <p:cNvSpPr/>
          <p:nvPr/>
        </p:nvSpPr>
        <p:spPr>
          <a:xfrm>
            <a:off x="6455833" y="2518767"/>
            <a:ext cx="1962150"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B4510C"/>
                </a:solidFill>
                <a:latin typeface="Plus Jakarta Sans" pitchFamily="34" charset="0"/>
                <a:ea typeface="Plus Jakarta Sans" pitchFamily="34" charset="-122"/>
                <a:cs typeface="Plus Jakarta Sans" pitchFamily="34" charset="-120"/>
              </a:rPr>
              <a:t>42.9%</a:t>
            </a:r>
            <a:endParaRPr lang="en-US" sz="2400" dirty="0"/>
          </a:p>
        </p:txBody>
      </p:sp>
      <p:sp>
        <p:nvSpPr>
          <p:cNvPr id="17" name="Text 15"/>
          <p:cNvSpPr/>
          <p:nvPr/>
        </p:nvSpPr>
        <p:spPr>
          <a:xfrm>
            <a:off x="8513234" y="2561903"/>
            <a:ext cx="214280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of rides on weekends</a:t>
            </a:r>
            <a:endParaRPr lang="en-US" sz="1400" dirty="0"/>
          </a:p>
        </p:txBody>
      </p:sp>
      <p:sp>
        <p:nvSpPr>
          <p:cNvPr id="18" name="Text 16"/>
          <p:cNvSpPr/>
          <p:nvPr/>
        </p:nvSpPr>
        <p:spPr>
          <a:xfrm>
            <a:off x="6455833" y="2993703"/>
            <a:ext cx="1962150"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B4510C"/>
                </a:solidFill>
                <a:latin typeface="Plus Jakarta Sans" pitchFamily="34" charset="0"/>
                <a:ea typeface="Plus Jakarta Sans" pitchFamily="34" charset="-122"/>
                <a:cs typeface="Plus Jakarta Sans" pitchFamily="34" charset="-120"/>
              </a:rPr>
              <a:t>25.8 min</a:t>
            </a:r>
            <a:endParaRPr lang="en-US" sz="2400" dirty="0"/>
          </a:p>
        </p:txBody>
      </p:sp>
      <p:sp>
        <p:nvSpPr>
          <p:cNvPr id="19" name="Text 17"/>
          <p:cNvSpPr/>
          <p:nvPr/>
        </p:nvSpPr>
        <p:spPr>
          <a:xfrm>
            <a:off x="8513234" y="3036825"/>
            <a:ext cx="187610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median ride length</a:t>
            </a:r>
            <a:endParaRPr lang="en-US" sz="1400" dirty="0"/>
          </a:p>
        </p:txBody>
      </p:sp>
      <p:sp>
        <p:nvSpPr>
          <p:cNvPr id="20" name="Text 18"/>
          <p:cNvSpPr/>
          <p:nvPr/>
        </p:nvSpPr>
        <p:spPr>
          <a:xfrm>
            <a:off x="6455833" y="3468625"/>
            <a:ext cx="1962150"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B4510C"/>
                </a:solidFill>
                <a:latin typeface="Plus Jakarta Sans" pitchFamily="34" charset="0"/>
                <a:ea typeface="Plus Jakarta Sans" pitchFamily="34" charset="-122"/>
                <a:cs typeface="Plus Jakarta Sans" pitchFamily="34" charset="-120"/>
              </a:rPr>
              <a:t>Saturday</a:t>
            </a:r>
            <a:endParaRPr lang="en-US" sz="2400" dirty="0"/>
          </a:p>
        </p:txBody>
      </p:sp>
      <p:sp>
        <p:nvSpPr>
          <p:cNvPr id="21" name="Text 19"/>
          <p:cNvSpPr/>
          <p:nvPr/>
        </p:nvSpPr>
        <p:spPr>
          <a:xfrm>
            <a:off x="8513234" y="3511748"/>
            <a:ext cx="234211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busiest day, 208K rides</a:t>
            </a:r>
            <a:endParaRPr lang="en-US" sz="1400" dirty="0"/>
          </a:p>
        </p:txBody>
      </p:sp>
      <p:sp>
        <p:nvSpPr>
          <p:cNvPr id="22" name="Text 20"/>
          <p:cNvSpPr/>
          <p:nvPr/>
        </p:nvSpPr>
        <p:spPr>
          <a:xfrm>
            <a:off x="6455833" y="3943548"/>
            <a:ext cx="1962150"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B4510C"/>
                </a:solidFill>
                <a:latin typeface="Plus Jakarta Sans" pitchFamily="34" charset="0"/>
                <a:ea typeface="Plus Jakarta Sans" pitchFamily="34" charset="-122"/>
                <a:cs typeface="Plus Jakarta Sans" pitchFamily="34" charset="-120"/>
              </a:rPr>
              <a:t>881K</a:t>
            </a:r>
            <a:endParaRPr lang="en-US" sz="2400" dirty="0"/>
          </a:p>
        </p:txBody>
      </p:sp>
      <p:sp>
        <p:nvSpPr>
          <p:cNvPr id="23" name="Text 21"/>
          <p:cNvSpPr/>
          <p:nvPr/>
        </p:nvSpPr>
        <p:spPr>
          <a:xfrm>
            <a:off x="8513234" y="3986684"/>
            <a:ext cx="123753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rides in 2019</a:t>
            </a:r>
            <a:endParaRPr lang="en-US" sz="1400" dirty="0"/>
          </a:p>
        </p:txBody>
      </p:sp>
      <p:sp>
        <p:nvSpPr>
          <p:cNvPr id="24" name="Text 22"/>
          <p:cNvSpPr/>
          <p:nvPr/>
        </p:nvSpPr>
        <p:spPr>
          <a:xfrm>
            <a:off x="812800" y="476561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Trip purpose is not recorded. Commuting and leisure labels are our reading of the pattern.</a:t>
            </a:r>
            <a:endParaRPr lang="en-US" sz="12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26" name="Text 24"/>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A34"/>
        </a:solidFill>
        <a:effectLst/>
      </p:bgPr>
    </p:bg>
    <p:spTree>
      <p:nvGrpSpPr>
        <p:cNvPr id="1" name=""/>
        <p:cNvGrpSpPr/>
        <p:nvPr/>
      </p:nvGrpSpPr>
      <p:grpSpPr>
        <a:xfrm>
          <a:off x="0" y="0"/>
          <a:ext cx="0" cy="0"/>
          <a:chOff x="0" y="0"/>
          <a:chExt cx="0" cy="0"/>
        </a:xfrm>
      </p:grpSpPr>
      <p:sp>
        <p:nvSpPr>
          <p:cNvPr id="2" name="Text 0"/>
          <p:cNvSpPr/>
          <p:nvPr/>
        </p:nvSpPr>
        <p:spPr>
          <a:xfrm>
            <a:off x="812800" y="14795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A9BEC6"/>
                </a:solidFill>
                <a:latin typeface="Plus Jakarta Sans" pitchFamily="34" charset="0"/>
                <a:ea typeface="Plus Jakarta Sans" pitchFamily="34" charset="-122"/>
                <a:cs typeface="Plus Jakarta Sans" pitchFamily="34" charset="-120"/>
              </a:rPr>
              <a:t>SECTION</a:t>
            </a:r>
            <a:endParaRPr lang="en-US" sz="1500" dirty="0"/>
          </a:p>
        </p:txBody>
      </p:sp>
      <p:sp>
        <p:nvSpPr>
          <p:cNvPr id="3" name="Text 1"/>
          <p:cNvSpPr/>
          <p:nvPr/>
        </p:nvSpPr>
        <p:spPr>
          <a:xfrm>
            <a:off x="812800" y="1873250"/>
            <a:ext cx="10883392" cy="1930400"/>
          </a:xfrm>
          <a:prstGeom prst="rect">
            <a:avLst/>
          </a:prstGeom>
          <a:noFill/>
          <a:ln/>
        </p:spPr>
        <p:txBody>
          <a:bodyPr wrap="square" lIns="0" tIns="0" rIns="0" bIns="0" rtlCol="0" anchor="t">
            <a:normAutofit/>
          </a:bodyPr>
          <a:lstStyle/>
          <a:p>
            <a:pPr marL="0" indent="0" algn="l">
              <a:lnSpc>
                <a:spcPts val="15000"/>
              </a:lnSpc>
              <a:buNone/>
            </a:pPr>
            <a:r>
              <a:rPr lang="en-US" sz="15000" b="1" dirty="0">
                <a:solidFill>
                  <a:srgbClr val="F29A55"/>
                </a:solidFill>
                <a:latin typeface="Plus Jakarta Sans" pitchFamily="34" charset="0"/>
                <a:ea typeface="Plus Jakarta Sans" pitchFamily="34" charset="-122"/>
                <a:cs typeface="Plus Jakarta Sans" pitchFamily="34" charset="-120"/>
              </a:rPr>
              <a:t>05</a:t>
            </a:r>
            <a:endParaRPr lang="en-US" sz="15000" dirty="0"/>
          </a:p>
        </p:txBody>
      </p:sp>
      <p:sp>
        <p:nvSpPr>
          <p:cNvPr id="4" name="Text 2"/>
          <p:cNvSpPr>
            <a:spLocks noGrp="1"/>
          </p:cNvSpPr>
          <p:nvPr>
            <p:ph type="title"/>
          </p:nvPr>
        </p:nvSpPr>
        <p:spPr>
          <a:xfrm>
            <a:off x="812800" y="3905250"/>
            <a:ext cx="6540500"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3EC"/>
                </a:solidFill>
                <a:latin typeface="Plus Jakarta Sans" pitchFamily="34" charset="0"/>
                <a:ea typeface="Plus Jakarta Sans" pitchFamily="34" charset="-122"/>
                <a:cs typeface="Plus Jakarta Sans" pitchFamily="34" charset="-120"/>
              </a:rPr>
              <a:t>Conclusion</a:t>
            </a:r>
            <a:endParaRPr lang="en-US" sz="4800" dirty="0"/>
          </a:p>
        </p:txBody>
      </p:sp>
      <p:sp>
        <p:nvSpPr>
          <p:cNvPr id="5" name="Text 3"/>
          <p:cNvSpPr/>
          <p:nvPr/>
        </p:nvSpPr>
        <p:spPr>
          <a:xfrm>
            <a:off x="812800" y="4702770"/>
            <a:ext cx="6540500" cy="701014"/>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A9BEC6"/>
                </a:solidFill>
                <a:latin typeface="Plus Jakarta Sans" pitchFamily="34" charset="0"/>
                <a:ea typeface="Plus Jakarta Sans" pitchFamily="34" charset="-122"/>
                <a:cs typeface="Plus Jakarta Sans" pitchFamily="34" charset="-120"/>
              </a:rPr>
              <a:t>What we found, what we recommend and what to do next.</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CONCLUSION</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Key findings</a:t>
            </a:r>
            <a:endParaRPr lang="en-US" sz="3200" dirty="0"/>
          </a:p>
        </p:txBody>
      </p:sp>
      <p:sp>
        <p:nvSpPr>
          <p:cNvPr id="4" name="Shape 2"/>
          <p:cNvSpPr/>
          <p:nvPr/>
        </p:nvSpPr>
        <p:spPr>
          <a:xfrm>
            <a:off x="815975" y="1844613"/>
            <a:ext cx="3380317" cy="2211784"/>
          </a:xfrm>
          <a:prstGeom prst="roundRect">
            <a:avLst>
              <a:gd name="adj" fmla="val 5598"/>
            </a:avLst>
          </a:prstGeom>
          <a:solidFill>
            <a:srgbClr val="FCFBF7"/>
          </a:solidFill>
          <a:ln w="6350">
            <a:solidFill>
              <a:srgbClr val="DCD8CC"/>
            </a:solidFill>
            <a:prstDash val="solid"/>
          </a:ln>
        </p:spPr>
      </p:sp>
      <p:sp>
        <p:nvSpPr>
          <p:cNvPr id="5" name="Text 3"/>
          <p:cNvSpPr/>
          <p:nvPr/>
        </p:nvSpPr>
        <p:spPr>
          <a:xfrm>
            <a:off x="1071033" y="2099667"/>
            <a:ext cx="2956306"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566870"/>
                </a:solidFill>
                <a:latin typeface="Plus Jakarta Sans" pitchFamily="34" charset="0"/>
                <a:ea typeface="Plus Jakarta Sans" pitchFamily="34" charset="-122"/>
                <a:cs typeface="Plus Jakarta Sans" pitchFamily="34" charset="-120"/>
              </a:rPr>
              <a:t>FINDING 1</a:t>
            </a:r>
            <a:endParaRPr lang="en-US" sz="1300" dirty="0"/>
          </a:p>
        </p:txBody>
      </p:sp>
      <p:sp>
        <p:nvSpPr>
          <p:cNvPr id="6" name="Text 4"/>
          <p:cNvSpPr/>
          <p:nvPr/>
        </p:nvSpPr>
        <p:spPr>
          <a:xfrm>
            <a:off x="1071033" y="2419685"/>
            <a:ext cx="2956306"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4510C"/>
                </a:solidFill>
                <a:latin typeface="Plus Jakarta Sans" pitchFamily="34" charset="0"/>
                <a:ea typeface="Plus Jakarta Sans" pitchFamily="34" charset="-122"/>
                <a:cs typeface="Plus Jakarta Sans" pitchFamily="34" charset="-120"/>
              </a:rPr>
              <a:t>43% vs. 18%</a:t>
            </a:r>
            <a:endParaRPr lang="en-US" sz="3200" dirty="0"/>
          </a:p>
        </p:txBody>
      </p:sp>
      <p:sp>
        <p:nvSpPr>
          <p:cNvPr id="7" name="Text 5"/>
          <p:cNvSpPr/>
          <p:nvPr/>
        </p:nvSpPr>
        <p:spPr>
          <a:xfrm>
            <a:off x="1071033" y="2955603"/>
            <a:ext cx="2956306"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62D"/>
                </a:solidFill>
                <a:latin typeface="Plus Jakarta Sans" pitchFamily="34" charset="0"/>
                <a:ea typeface="Plus Jakarta Sans" pitchFamily="34" charset="-122"/>
                <a:cs typeface="Plus Jakarta Sans" pitchFamily="34" charset="-120"/>
              </a:rPr>
              <a:t>Different calendars</a:t>
            </a:r>
            <a:endParaRPr lang="en-US" sz="1700" dirty="0"/>
          </a:p>
        </p:txBody>
      </p:sp>
      <p:sp>
        <p:nvSpPr>
          <p:cNvPr id="8" name="Text 6"/>
          <p:cNvSpPr/>
          <p:nvPr/>
        </p:nvSpPr>
        <p:spPr>
          <a:xfrm>
            <a:off x="1071033" y="3303525"/>
            <a:ext cx="295630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870"/>
                </a:solidFill>
                <a:latin typeface="Plus Jakarta Sans" pitchFamily="34" charset="0"/>
                <a:ea typeface="Plus Jakarta Sans" pitchFamily="34" charset="-122"/>
                <a:cs typeface="Plus Jakarta Sans" pitchFamily="34" charset="-120"/>
              </a:rPr>
              <a:t>Share of rides on weekends, casual vs. members.</a:t>
            </a:r>
            <a:endParaRPr lang="en-US" sz="1400" dirty="0"/>
          </a:p>
        </p:txBody>
      </p:sp>
      <p:sp>
        <p:nvSpPr>
          <p:cNvPr id="9" name="Shape 7"/>
          <p:cNvSpPr/>
          <p:nvPr/>
        </p:nvSpPr>
        <p:spPr>
          <a:xfrm>
            <a:off x="4405842" y="1844613"/>
            <a:ext cx="3380317" cy="2211784"/>
          </a:xfrm>
          <a:prstGeom prst="roundRect">
            <a:avLst>
              <a:gd name="adj" fmla="val 5598"/>
            </a:avLst>
          </a:prstGeom>
          <a:solidFill>
            <a:srgbClr val="FCFBF7"/>
          </a:solidFill>
          <a:ln w="6350">
            <a:solidFill>
              <a:srgbClr val="DCD8CC"/>
            </a:solidFill>
            <a:prstDash val="solid"/>
          </a:ln>
        </p:spPr>
      </p:sp>
      <p:sp>
        <p:nvSpPr>
          <p:cNvPr id="10" name="Text 8"/>
          <p:cNvSpPr/>
          <p:nvPr/>
        </p:nvSpPr>
        <p:spPr>
          <a:xfrm>
            <a:off x="4660900" y="2099667"/>
            <a:ext cx="2956306"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566870"/>
                </a:solidFill>
                <a:latin typeface="Plus Jakarta Sans" pitchFamily="34" charset="0"/>
                <a:ea typeface="Plus Jakarta Sans" pitchFamily="34" charset="-122"/>
                <a:cs typeface="Plus Jakarta Sans" pitchFamily="34" charset="-120"/>
              </a:rPr>
              <a:t>FINDING 2</a:t>
            </a:r>
            <a:endParaRPr lang="en-US" sz="1300" dirty="0"/>
          </a:p>
        </p:txBody>
      </p:sp>
      <p:sp>
        <p:nvSpPr>
          <p:cNvPr id="11" name="Text 9"/>
          <p:cNvSpPr/>
          <p:nvPr/>
        </p:nvSpPr>
        <p:spPr>
          <a:xfrm>
            <a:off x="4660900" y="2419685"/>
            <a:ext cx="2956306"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4510C"/>
                </a:solidFill>
                <a:latin typeface="Plus Jakarta Sans" pitchFamily="34" charset="0"/>
                <a:ea typeface="Plus Jakarta Sans" pitchFamily="34" charset="-122"/>
                <a:cs typeface="Plus Jakarta Sans" pitchFamily="34" charset="-120"/>
              </a:rPr>
              <a:t>26 vs. 10 min</a:t>
            </a:r>
            <a:endParaRPr lang="en-US" sz="3200" dirty="0"/>
          </a:p>
        </p:txBody>
      </p:sp>
      <p:sp>
        <p:nvSpPr>
          <p:cNvPr id="12" name="Text 10"/>
          <p:cNvSpPr/>
          <p:nvPr/>
        </p:nvSpPr>
        <p:spPr>
          <a:xfrm>
            <a:off x="4660900" y="2955603"/>
            <a:ext cx="2956306"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62D"/>
                </a:solidFill>
                <a:latin typeface="Plus Jakarta Sans" pitchFamily="34" charset="0"/>
                <a:ea typeface="Plus Jakarta Sans" pitchFamily="34" charset="-122"/>
                <a:cs typeface="Plus Jakarta Sans" pitchFamily="34" charset="-120"/>
              </a:rPr>
              <a:t>Different ride lengths</a:t>
            </a:r>
            <a:endParaRPr lang="en-US" sz="1700" dirty="0"/>
          </a:p>
        </p:txBody>
      </p:sp>
      <p:sp>
        <p:nvSpPr>
          <p:cNvPr id="13" name="Text 11"/>
          <p:cNvSpPr/>
          <p:nvPr/>
        </p:nvSpPr>
        <p:spPr>
          <a:xfrm>
            <a:off x="4660900" y="3303525"/>
            <a:ext cx="295630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870"/>
                </a:solidFill>
                <a:latin typeface="Plus Jakarta Sans" pitchFamily="34" charset="0"/>
                <a:ea typeface="Plus Jakarta Sans" pitchFamily="34" charset="-122"/>
                <a:cs typeface="Plus Jakarta Sans" pitchFamily="34" charset="-120"/>
              </a:rPr>
              <a:t>Median ride, casual vs. members.</a:t>
            </a:r>
            <a:endParaRPr lang="en-US" sz="1400" dirty="0"/>
          </a:p>
        </p:txBody>
      </p:sp>
      <p:sp>
        <p:nvSpPr>
          <p:cNvPr id="14" name="Shape 12"/>
          <p:cNvSpPr/>
          <p:nvPr/>
        </p:nvSpPr>
        <p:spPr>
          <a:xfrm>
            <a:off x="7995709" y="1844613"/>
            <a:ext cx="3380317" cy="2211784"/>
          </a:xfrm>
          <a:prstGeom prst="roundRect">
            <a:avLst>
              <a:gd name="adj" fmla="val 5598"/>
            </a:avLst>
          </a:prstGeom>
          <a:solidFill>
            <a:srgbClr val="FCFBF7"/>
          </a:solidFill>
          <a:ln w="6350">
            <a:solidFill>
              <a:srgbClr val="DCD8CC"/>
            </a:solidFill>
            <a:prstDash val="solid"/>
          </a:ln>
        </p:spPr>
      </p:sp>
      <p:sp>
        <p:nvSpPr>
          <p:cNvPr id="15" name="Text 13"/>
          <p:cNvSpPr/>
          <p:nvPr/>
        </p:nvSpPr>
        <p:spPr>
          <a:xfrm>
            <a:off x="8250767" y="2099667"/>
            <a:ext cx="2956306"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566870"/>
                </a:solidFill>
                <a:latin typeface="Plus Jakarta Sans" pitchFamily="34" charset="0"/>
                <a:ea typeface="Plus Jakarta Sans" pitchFamily="34" charset="-122"/>
                <a:cs typeface="Plus Jakarta Sans" pitchFamily="34" charset="-120"/>
              </a:rPr>
              <a:t>FINDING 3</a:t>
            </a:r>
            <a:endParaRPr lang="en-US" sz="1300" dirty="0"/>
          </a:p>
        </p:txBody>
      </p:sp>
      <p:sp>
        <p:nvSpPr>
          <p:cNvPr id="16" name="Text 14"/>
          <p:cNvSpPr/>
          <p:nvPr/>
        </p:nvSpPr>
        <p:spPr>
          <a:xfrm>
            <a:off x="8250767" y="2419685"/>
            <a:ext cx="2956306"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4510C"/>
                </a:solidFill>
                <a:latin typeface="Plus Jakarta Sans" pitchFamily="34" charset="0"/>
                <a:ea typeface="Plus Jakarta Sans" pitchFamily="34" charset="-122"/>
                <a:cs typeface="Plus Jakarta Sans" pitchFamily="34" charset="-120"/>
              </a:rPr>
              <a:t>54%</a:t>
            </a:r>
            <a:endParaRPr lang="en-US" sz="3200" dirty="0"/>
          </a:p>
        </p:txBody>
      </p:sp>
      <p:sp>
        <p:nvSpPr>
          <p:cNvPr id="17" name="Text 15"/>
          <p:cNvSpPr/>
          <p:nvPr/>
        </p:nvSpPr>
        <p:spPr>
          <a:xfrm>
            <a:off x="8250767" y="2955603"/>
            <a:ext cx="2956306"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62D"/>
                </a:solidFill>
                <a:latin typeface="Plus Jakarta Sans" pitchFamily="34" charset="0"/>
                <a:ea typeface="Plus Jakarta Sans" pitchFamily="34" charset="-122"/>
                <a:cs typeface="Plus Jakarta Sans" pitchFamily="34" charset="-120"/>
              </a:rPr>
              <a:t>Hidden weight</a:t>
            </a:r>
            <a:endParaRPr lang="en-US" sz="1700" dirty="0"/>
          </a:p>
        </p:txBody>
      </p:sp>
      <p:sp>
        <p:nvSpPr>
          <p:cNvPr id="18" name="Text 16"/>
          <p:cNvSpPr/>
          <p:nvPr/>
        </p:nvSpPr>
        <p:spPr>
          <a:xfrm>
            <a:off x="8250767" y="3303525"/>
            <a:ext cx="295630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66870"/>
                </a:solidFill>
                <a:latin typeface="Plus Jakarta Sans" pitchFamily="34" charset="0"/>
                <a:ea typeface="Plus Jakarta Sans" pitchFamily="34" charset="-122"/>
                <a:cs typeface="Plus Jakarta Sans" pitchFamily="34" charset="-120"/>
              </a:rPr>
              <a:t>Share of all riding time that comes from casual riders.</a:t>
            </a:r>
            <a:endParaRPr lang="en-US" sz="1400" dirty="0"/>
          </a:p>
        </p:txBody>
      </p:sp>
      <p:sp>
        <p:nvSpPr>
          <p:cNvPr id="19" name="Text 17"/>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CONCLUSION</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Top three recommendations</a:t>
            </a:r>
            <a:endParaRPr lang="en-US" sz="3200" dirty="0"/>
          </a:p>
        </p:txBody>
      </p:sp>
      <p:sp>
        <p:nvSpPr>
          <p:cNvPr id="4" name="Shape 2"/>
          <p:cNvSpPr/>
          <p:nvPr/>
        </p:nvSpPr>
        <p:spPr>
          <a:xfrm>
            <a:off x="815975" y="1844613"/>
            <a:ext cx="3380317" cy="3319198"/>
          </a:xfrm>
          <a:prstGeom prst="roundRect">
            <a:avLst>
              <a:gd name="adj" fmla="val 3731"/>
            </a:avLst>
          </a:prstGeom>
          <a:solidFill>
            <a:srgbClr val="FCFBF7"/>
          </a:solidFill>
          <a:ln w="6350">
            <a:solidFill>
              <a:srgbClr val="DCD8CC"/>
            </a:solidFill>
            <a:prstDash val="solid"/>
          </a:ln>
        </p:spPr>
      </p:sp>
      <p:sp>
        <p:nvSpPr>
          <p:cNvPr id="5" name="Text 3"/>
          <p:cNvSpPr/>
          <p:nvPr/>
        </p:nvSpPr>
        <p:spPr>
          <a:xfrm>
            <a:off x="1071033" y="2099667"/>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F6F85"/>
          </a:solidFill>
          <a:ln/>
        </p:spPr>
        <p:txBody>
          <a:bodyPr wrap="square" lIns="0" tIns="0" rIns="0" bIns="0" rtlCol="0" anchor="t">
            <a:normAutofit/>
          </a:bodyPr>
          <a:lstStyle/>
          <a:p>
            <a:pPr marL="0" indent="0" algn="ctr">
              <a:lnSpc>
                <a:spcPts val="3196"/>
              </a:lnSpc>
              <a:buNone/>
            </a:pPr>
            <a:r>
              <a:rPr lang="en-US" sz="1700" b="1" dirty="0">
                <a:solidFill>
                  <a:srgbClr val="F5F3EC"/>
                </a:solidFill>
                <a:latin typeface="Plus Jakarta Sans" pitchFamily="34" charset="0"/>
                <a:ea typeface="Plus Jakarta Sans" pitchFamily="34" charset="-122"/>
                <a:cs typeface="Plus Jakarta Sans" pitchFamily="34" charset="-120"/>
              </a:rPr>
              <a:t>1</a:t>
            </a:r>
            <a:endParaRPr lang="en-US" sz="1700" dirty="0"/>
          </a:p>
        </p:txBody>
      </p:sp>
      <p:sp>
        <p:nvSpPr>
          <p:cNvPr id="6" name="Text 4"/>
          <p:cNvSpPr/>
          <p:nvPr/>
        </p:nvSpPr>
        <p:spPr>
          <a:xfrm>
            <a:off x="1071033" y="2607667"/>
            <a:ext cx="2956306" cy="574014"/>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62D"/>
                </a:solidFill>
                <a:latin typeface="Plus Jakarta Sans" pitchFamily="34" charset="0"/>
                <a:ea typeface="Plus Jakarta Sans" pitchFamily="34" charset="-122"/>
                <a:cs typeface="Plus Jakarta Sans" pitchFamily="34" charset="-120"/>
              </a:rPr>
              <a:t>Offer a weekend membership</a:t>
            </a:r>
            <a:endParaRPr lang="en-US" sz="1800" dirty="0"/>
          </a:p>
        </p:txBody>
      </p:sp>
      <p:sp>
        <p:nvSpPr>
          <p:cNvPr id="7" name="Text 5"/>
          <p:cNvSpPr/>
          <p:nvPr/>
        </p:nvSpPr>
        <p:spPr>
          <a:xfrm>
            <a:off x="1071033" y="3257885"/>
            <a:ext cx="2956306" cy="102102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Give casual riders a weekend-focused membership or trial. Their riding peaks on Saturday and Sunday.</a:t>
            </a:r>
            <a:endParaRPr lang="en-US" sz="1400" dirty="0"/>
          </a:p>
        </p:txBody>
      </p:sp>
      <p:pic>
        <p:nvPicPr>
          <p:cNvPr id="8" name="Image 0" descr="line"/>
          <p:cNvPicPr>
            <a:picLocks noChangeAspect="1"/>
          </p:cNvPicPr>
          <p:nvPr/>
        </p:nvPicPr>
        <p:blipFill>
          <a:blip r:embed="rId3"/>
          <a:srcRect/>
          <a:stretch/>
        </p:blipFill>
        <p:spPr>
          <a:xfrm>
            <a:off x="1071033" y="4355108"/>
            <a:ext cx="2870200" cy="25400"/>
          </a:xfrm>
          <a:prstGeom prst="rect">
            <a:avLst/>
          </a:prstGeom>
        </p:spPr>
      </p:pic>
      <p:sp>
        <p:nvSpPr>
          <p:cNvPr id="9" name="Text 6"/>
          <p:cNvSpPr/>
          <p:nvPr/>
        </p:nvSpPr>
        <p:spPr>
          <a:xfrm>
            <a:off x="1071033" y="4482108"/>
            <a:ext cx="29563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Based on: 43% of casual rides at weekends</a:t>
            </a:r>
            <a:endParaRPr lang="en-US" sz="1200" dirty="0"/>
          </a:p>
        </p:txBody>
      </p:sp>
      <p:sp>
        <p:nvSpPr>
          <p:cNvPr id="10" name="Shape 7"/>
          <p:cNvSpPr/>
          <p:nvPr/>
        </p:nvSpPr>
        <p:spPr>
          <a:xfrm>
            <a:off x="4405842" y="1844613"/>
            <a:ext cx="3380317" cy="3319198"/>
          </a:xfrm>
          <a:prstGeom prst="roundRect">
            <a:avLst>
              <a:gd name="adj" fmla="val 3731"/>
            </a:avLst>
          </a:prstGeom>
          <a:solidFill>
            <a:srgbClr val="FCFBF7"/>
          </a:solidFill>
          <a:ln w="6350">
            <a:solidFill>
              <a:srgbClr val="DCD8CC"/>
            </a:solidFill>
            <a:prstDash val="solid"/>
          </a:ln>
        </p:spPr>
      </p:sp>
      <p:sp>
        <p:nvSpPr>
          <p:cNvPr id="11" name="Text 8"/>
          <p:cNvSpPr/>
          <p:nvPr/>
        </p:nvSpPr>
        <p:spPr>
          <a:xfrm>
            <a:off x="4660900" y="2099667"/>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F6F85"/>
          </a:solidFill>
          <a:ln/>
        </p:spPr>
        <p:txBody>
          <a:bodyPr wrap="square" lIns="0" tIns="0" rIns="0" bIns="0" rtlCol="0" anchor="t">
            <a:normAutofit/>
          </a:bodyPr>
          <a:lstStyle/>
          <a:p>
            <a:pPr marL="0" indent="0" algn="ctr">
              <a:lnSpc>
                <a:spcPts val="3196"/>
              </a:lnSpc>
              <a:buNone/>
            </a:pPr>
            <a:r>
              <a:rPr lang="en-US" sz="1700" b="1" dirty="0">
                <a:solidFill>
                  <a:srgbClr val="F5F3EC"/>
                </a:solidFill>
                <a:latin typeface="Plus Jakarta Sans" pitchFamily="34" charset="0"/>
                <a:ea typeface="Plus Jakarta Sans" pitchFamily="34" charset="-122"/>
                <a:cs typeface="Plus Jakarta Sans" pitchFamily="34" charset="-120"/>
              </a:rPr>
              <a:t>2</a:t>
            </a:r>
            <a:endParaRPr lang="en-US" sz="1700" dirty="0"/>
          </a:p>
        </p:txBody>
      </p:sp>
      <p:sp>
        <p:nvSpPr>
          <p:cNvPr id="12" name="Text 9"/>
          <p:cNvSpPr/>
          <p:nvPr/>
        </p:nvSpPr>
        <p:spPr>
          <a:xfrm>
            <a:off x="4660900" y="260766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62D"/>
                </a:solidFill>
                <a:latin typeface="Plus Jakarta Sans" pitchFamily="34" charset="0"/>
                <a:ea typeface="Plus Jakarta Sans" pitchFamily="34" charset="-122"/>
                <a:cs typeface="Plus Jakarta Sans" pitchFamily="34" charset="-120"/>
              </a:rPr>
              <a:t>Sell value on longer rides</a:t>
            </a:r>
            <a:endParaRPr lang="en-US" sz="1800" dirty="0"/>
          </a:p>
        </p:txBody>
      </p:sp>
      <p:sp>
        <p:nvSpPr>
          <p:cNvPr id="13" name="Text 10"/>
          <p:cNvSpPr/>
          <p:nvPr/>
        </p:nvSpPr>
        <p:spPr>
          <a:xfrm>
            <a:off x="4660900" y="2983582"/>
            <a:ext cx="2956306" cy="102102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Build the message around longer trips and show how membership can lower the cost of frequent riding.</a:t>
            </a:r>
            <a:endParaRPr lang="en-US" sz="1400" dirty="0"/>
          </a:p>
        </p:txBody>
      </p:sp>
      <p:pic>
        <p:nvPicPr>
          <p:cNvPr id="14" name="Image 1" descr="line"/>
          <p:cNvPicPr>
            <a:picLocks noChangeAspect="1"/>
          </p:cNvPicPr>
          <p:nvPr/>
        </p:nvPicPr>
        <p:blipFill>
          <a:blip r:embed="rId3"/>
          <a:srcRect/>
          <a:stretch/>
        </p:blipFill>
        <p:spPr>
          <a:xfrm>
            <a:off x="4660900" y="4080805"/>
            <a:ext cx="2870200" cy="25400"/>
          </a:xfrm>
          <a:prstGeom prst="rect">
            <a:avLst/>
          </a:prstGeom>
        </p:spPr>
      </p:pic>
      <p:sp>
        <p:nvSpPr>
          <p:cNvPr id="15" name="Text 11"/>
          <p:cNvSpPr/>
          <p:nvPr/>
        </p:nvSpPr>
        <p:spPr>
          <a:xfrm>
            <a:off x="4660900" y="4207805"/>
            <a:ext cx="29563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Based on: median casual ride of 25.8 minutes</a:t>
            </a:r>
            <a:endParaRPr lang="en-US" sz="1200" dirty="0"/>
          </a:p>
        </p:txBody>
      </p:sp>
      <p:sp>
        <p:nvSpPr>
          <p:cNvPr id="16" name="Shape 12"/>
          <p:cNvSpPr/>
          <p:nvPr/>
        </p:nvSpPr>
        <p:spPr>
          <a:xfrm>
            <a:off x="7995709" y="1844613"/>
            <a:ext cx="3380317" cy="3319198"/>
          </a:xfrm>
          <a:prstGeom prst="roundRect">
            <a:avLst>
              <a:gd name="adj" fmla="val 3731"/>
            </a:avLst>
          </a:prstGeom>
          <a:solidFill>
            <a:srgbClr val="FCFBF7"/>
          </a:solidFill>
          <a:ln w="6350">
            <a:solidFill>
              <a:srgbClr val="DCD8CC"/>
            </a:solidFill>
            <a:prstDash val="solid"/>
          </a:ln>
        </p:spPr>
      </p:sp>
      <p:sp>
        <p:nvSpPr>
          <p:cNvPr id="17" name="Text 13"/>
          <p:cNvSpPr/>
          <p:nvPr/>
        </p:nvSpPr>
        <p:spPr>
          <a:xfrm>
            <a:off x="8250767" y="2099667"/>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1F6F85"/>
          </a:solidFill>
          <a:ln/>
        </p:spPr>
        <p:txBody>
          <a:bodyPr wrap="square" lIns="0" tIns="0" rIns="0" bIns="0" rtlCol="0" anchor="t">
            <a:normAutofit/>
          </a:bodyPr>
          <a:lstStyle/>
          <a:p>
            <a:pPr marL="0" indent="0" algn="ctr">
              <a:lnSpc>
                <a:spcPts val="3196"/>
              </a:lnSpc>
              <a:buNone/>
            </a:pPr>
            <a:r>
              <a:rPr lang="en-US" sz="1700" b="1" dirty="0">
                <a:solidFill>
                  <a:srgbClr val="F5F3EC"/>
                </a:solidFill>
                <a:latin typeface="Plus Jakarta Sans" pitchFamily="34" charset="0"/>
                <a:ea typeface="Plus Jakarta Sans" pitchFamily="34" charset="-122"/>
                <a:cs typeface="Plus Jakarta Sans" pitchFamily="34" charset="-120"/>
              </a:rPr>
              <a:t>3</a:t>
            </a:r>
            <a:endParaRPr lang="en-US" sz="1700" dirty="0"/>
          </a:p>
        </p:txBody>
      </p:sp>
      <p:sp>
        <p:nvSpPr>
          <p:cNvPr id="18" name="Text 14"/>
          <p:cNvSpPr/>
          <p:nvPr/>
        </p:nvSpPr>
        <p:spPr>
          <a:xfrm>
            <a:off x="8250767" y="260766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62D"/>
                </a:solidFill>
                <a:latin typeface="Plus Jakarta Sans" pitchFamily="34" charset="0"/>
                <a:ea typeface="Plus Jakarta Sans" pitchFamily="34" charset="-122"/>
                <a:cs typeface="Plus Jakarta Sans" pitchFamily="34" charset="-120"/>
              </a:rPr>
              <a:t>Time digital prompts</a:t>
            </a:r>
            <a:endParaRPr lang="en-US" sz="1800" dirty="0"/>
          </a:p>
        </p:txBody>
      </p:sp>
      <p:sp>
        <p:nvSpPr>
          <p:cNvPr id="19" name="Text 15"/>
          <p:cNvSpPr/>
          <p:nvPr/>
        </p:nvSpPr>
        <p:spPr>
          <a:xfrm>
            <a:off x="8250767" y="2983582"/>
            <a:ext cx="2956306" cy="102102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Place membership offers in email, social and the app on Fridays and weekends, when casual riding climbs.</a:t>
            </a:r>
            <a:endParaRPr lang="en-US" sz="1400" dirty="0"/>
          </a:p>
        </p:txBody>
      </p:sp>
      <p:pic>
        <p:nvPicPr>
          <p:cNvPr id="20" name="Image 2" descr="line"/>
          <p:cNvPicPr>
            <a:picLocks noChangeAspect="1"/>
          </p:cNvPicPr>
          <p:nvPr/>
        </p:nvPicPr>
        <p:blipFill>
          <a:blip r:embed="rId3"/>
          <a:srcRect/>
          <a:stretch/>
        </p:blipFill>
        <p:spPr>
          <a:xfrm>
            <a:off x="8250767" y="4080805"/>
            <a:ext cx="2870200" cy="25400"/>
          </a:xfrm>
          <a:prstGeom prst="rect">
            <a:avLst/>
          </a:prstGeom>
        </p:spPr>
      </p:pic>
      <p:sp>
        <p:nvSpPr>
          <p:cNvPr id="21" name="Text 16"/>
          <p:cNvSpPr/>
          <p:nvPr/>
        </p:nvSpPr>
        <p:spPr>
          <a:xfrm>
            <a:off x="8250767" y="4207805"/>
            <a:ext cx="29563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Based on: casual rides rise from Friday to Saturday</a:t>
            </a:r>
            <a:endParaRPr lang="en-US" sz="1200" dirty="0"/>
          </a:p>
        </p:txBody>
      </p:sp>
      <p:sp>
        <p:nvSpPr>
          <p:cNvPr id="22" name="Text 17"/>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23" name="Text 18"/>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CONCLUSION</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Next steps and further data</a:t>
            </a:r>
            <a:endParaRPr lang="en-US" sz="3200" dirty="0"/>
          </a:p>
        </p:txBody>
      </p:sp>
      <p:sp>
        <p:nvSpPr>
          <p:cNvPr id="4" name="Shape 2"/>
          <p:cNvSpPr/>
          <p:nvPr/>
        </p:nvSpPr>
        <p:spPr>
          <a:xfrm>
            <a:off x="815975" y="1844613"/>
            <a:ext cx="5175250" cy="1985830"/>
          </a:xfrm>
          <a:prstGeom prst="roundRect">
            <a:avLst>
              <a:gd name="adj" fmla="val 6235"/>
            </a:avLst>
          </a:prstGeom>
          <a:solidFill>
            <a:srgbClr val="FCFBF7"/>
          </a:solidFill>
          <a:ln w="6350">
            <a:solidFill>
              <a:srgbClr val="DCD8CC"/>
            </a:solidFill>
            <a:prstDash val="solid"/>
          </a:ln>
        </p:spPr>
      </p:sp>
      <p:sp>
        <p:nvSpPr>
          <p:cNvPr id="5" name="Text 3"/>
          <p:cNvSpPr/>
          <p:nvPr/>
        </p:nvSpPr>
        <p:spPr>
          <a:xfrm>
            <a:off x="1071033" y="2099667"/>
            <a:ext cx="4805087"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NEXT STEPS</a:t>
            </a:r>
            <a:endParaRPr lang="en-US" sz="1300" dirty="0"/>
          </a:p>
        </p:txBody>
      </p:sp>
      <p:sp>
        <p:nvSpPr>
          <p:cNvPr id="6" name="Text 4"/>
          <p:cNvSpPr/>
          <p:nvPr/>
        </p:nvSpPr>
        <p:spPr>
          <a:xfrm>
            <a:off x="1142153" y="2432385"/>
            <a:ext cx="4726347" cy="11684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Check plan prices against casual ride lengths</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Pilot a weekend offer and measure sign-ups</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Move on to why casual riders would buy, and digital media</a:t>
            </a:r>
            <a:endParaRPr lang="en-US" sz="1500" dirty="0"/>
          </a:p>
        </p:txBody>
      </p:sp>
      <p:sp>
        <p:nvSpPr>
          <p:cNvPr id="7" name="Shape 5"/>
          <p:cNvSpPr/>
          <p:nvPr/>
        </p:nvSpPr>
        <p:spPr>
          <a:xfrm>
            <a:off x="6200775" y="1844613"/>
            <a:ext cx="5175250" cy="1985830"/>
          </a:xfrm>
          <a:prstGeom prst="roundRect">
            <a:avLst>
              <a:gd name="adj" fmla="val 6235"/>
            </a:avLst>
          </a:prstGeom>
          <a:solidFill>
            <a:srgbClr val="FCFBF7"/>
          </a:solidFill>
          <a:ln w="6350">
            <a:solidFill>
              <a:srgbClr val="DCD8CC"/>
            </a:solidFill>
            <a:prstDash val="solid"/>
          </a:ln>
        </p:spPr>
      </p:sp>
      <p:sp>
        <p:nvSpPr>
          <p:cNvPr id="8" name="Text 6"/>
          <p:cNvSpPr/>
          <p:nvPr/>
        </p:nvSpPr>
        <p:spPr>
          <a:xfrm>
            <a:off x="6455833" y="2099667"/>
            <a:ext cx="4805087"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FURTHER DATA TO EXPLORE</a:t>
            </a:r>
            <a:endParaRPr lang="en-US" sz="1300" dirty="0"/>
          </a:p>
        </p:txBody>
      </p:sp>
      <p:sp>
        <p:nvSpPr>
          <p:cNvPr id="9" name="Text 7"/>
          <p:cNvSpPr/>
          <p:nvPr/>
        </p:nvSpPr>
        <p:spPr>
          <a:xfrm>
            <a:off x="6526953" y="2432385"/>
            <a:ext cx="4726347" cy="11684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Time of day and month-by-month seasonality</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Start and end stations, already in the data</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Pass type and pricing data</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More recent trip data</a:t>
            </a:r>
            <a:endParaRPr lang="en-US" sz="15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333E"/>
        </a:solidFill>
        <a:effectLst/>
      </p:bgPr>
    </p:bg>
    <p:spTree>
      <p:nvGrpSpPr>
        <p:cNvPr id="1" name=""/>
        <p:cNvGrpSpPr/>
        <p:nvPr/>
      </p:nvGrpSpPr>
      <p:grpSpPr>
        <a:xfrm>
          <a:off x="0" y="0"/>
          <a:ext cx="0" cy="0"/>
          <a:chOff x="0" y="0"/>
          <a:chExt cx="0" cy="0"/>
        </a:xfrm>
      </p:grpSpPr>
      <p:sp>
        <p:nvSpPr>
          <p:cNvPr id="2" name="Text 0"/>
          <p:cNvSpPr/>
          <p:nvPr/>
        </p:nvSpPr>
        <p:spPr>
          <a:xfrm>
            <a:off x="812800" y="14795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150" dirty="0">
                <a:solidFill>
                  <a:srgbClr val="A9BEC6"/>
                </a:solidFill>
                <a:latin typeface="Plus Jakarta Sans" pitchFamily="34" charset="0"/>
                <a:ea typeface="Plus Jakarta Sans" pitchFamily="34" charset="-122"/>
                <a:cs typeface="Plus Jakarta Sans" pitchFamily="34" charset="-120"/>
              </a:rPr>
              <a:t>SECTION</a:t>
            </a:r>
            <a:endParaRPr lang="en-US" sz="1500" dirty="0"/>
          </a:p>
        </p:txBody>
      </p:sp>
      <p:sp>
        <p:nvSpPr>
          <p:cNvPr id="3" name="Text 1"/>
          <p:cNvSpPr/>
          <p:nvPr/>
        </p:nvSpPr>
        <p:spPr>
          <a:xfrm>
            <a:off x="812800" y="1873250"/>
            <a:ext cx="10883392" cy="1930400"/>
          </a:xfrm>
          <a:prstGeom prst="rect">
            <a:avLst/>
          </a:prstGeom>
          <a:noFill/>
          <a:ln/>
        </p:spPr>
        <p:txBody>
          <a:bodyPr wrap="square" lIns="0" tIns="0" rIns="0" bIns="0" rtlCol="0" anchor="t">
            <a:normAutofit/>
          </a:bodyPr>
          <a:lstStyle/>
          <a:p>
            <a:pPr marL="0" indent="0" algn="l">
              <a:lnSpc>
                <a:spcPts val="15000"/>
              </a:lnSpc>
              <a:buNone/>
            </a:pPr>
            <a:r>
              <a:rPr lang="en-US" sz="15000" b="1" dirty="0">
                <a:solidFill>
                  <a:srgbClr val="F29A55"/>
                </a:solidFill>
                <a:latin typeface="Plus Jakarta Sans" pitchFamily="34" charset="0"/>
                <a:ea typeface="Plus Jakarta Sans" pitchFamily="34" charset="-122"/>
                <a:cs typeface="Plus Jakarta Sans" pitchFamily="34" charset="-120"/>
              </a:rPr>
              <a:t>06</a:t>
            </a:r>
            <a:endParaRPr lang="en-US" sz="15000" dirty="0"/>
          </a:p>
        </p:txBody>
      </p:sp>
      <p:sp>
        <p:nvSpPr>
          <p:cNvPr id="4" name="Text 2"/>
          <p:cNvSpPr>
            <a:spLocks noGrp="1"/>
          </p:cNvSpPr>
          <p:nvPr>
            <p:ph type="title"/>
          </p:nvPr>
        </p:nvSpPr>
        <p:spPr>
          <a:xfrm>
            <a:off x="812800" y="3905250"/>
            <a:ext cx="6540500"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3EC"/>
                </a:solidFill>
                <a:latin typeface="Plus Jakarta Sans" pitchFamily="34" charset="0"/>
                <a:ea typeface="Plus Jakarta Sans" pitchFamily="34" charset="-122"/>
                <a:cs typeface="Plus Jakarta Sans" pitchFamily="34" charset="-120"/>
              </a:rPr>
              <a:t>Appendix</a:t>
            </a:r>
            <a:endParaRPr lang="en-US" sz="4800" dirty="0"/>
          </a:p>
        </p:txBody>
      </p:sp>
      <p:sp>
        <p:nvSpPr>
          <p:cNvPr id="5" name="Text 3"/>
          <p:cNvSpPr/>
          <p:nvPr/>
        </p:nvSpPr>
        <p:spPr>
          <a:xfrm>
            <a:off x="812800" y="4702770"/>
            <a:ext cx="6540500" cy="701014"/>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A9BEC6"/>
                </a:solidFill>
                <a:latin typeface="Plus Jakarta Sans" pitchFamily="34" charset="0"/>
                <a:ea typeface="Plus Jakarta Sans" pitchFamily="34" charset="-122"/>
                <a:cs typeface="Plus Jakarta Sans" pitchFamily="34" charset="-120"/>
              </a:rPr>
              <a:t>Reference material: fields used, supporting numbers and limitations.</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APPENDIX</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A1 · Data dictionary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138"/>
          <a:ext cx="10553700" cy="3233738"/>
        </p:xfrm>
        <a:graphic>
          <a:graphicData uri="http://schemas.openxmlformats.org/drawingml/2006/table">
            <a:tbl>
              <a:tblPr/>
              <a:tblGrid>
                <a:gridCol w="4010406">
                  <a:extLst>
                    <a:ext uri="{9D8B030D-6E8A-4147-A177-3AD203B41FA5}">
                      <a16:colId xmlns:a16="http://schemas.microsoft.com/office/drawing/2014/main" val="20000"/>
                    </a:ext>
                  </a:extLst>
                </a:gridCol>
                <a:gridCol w="6543294">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5F3EC"/>
                          </a:solidFill>
                          <a:latin typeface="Plus Jakarta Sans" pitchFamily="34" charset="0"/>
                          <a:ea typeface="Plus Jakarta Sans" pitchFamily="34" charset="-122"/>
                          <a:cs typeface="Plus Jakarta Sans" pitchFamily="34" charset="-120"/>
                        </a:rPr>
                        <a:t>Field</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0F252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0F252D"/>
                      </a:solidFill>
                      <a:prstDash val="solid"/>
                      <a:round/>
                      <a:headEnd type="none" w="med" len="med"/>
                      <a:tailEnd type="none" w="med" len="med"/>
                    </a:lnB>
                    <a:solidFill>
                      <a:srgbClr val="0E2A34"/>
                    </a:solidFill>
                  </a:tcPr>
                </a:tc>
                <a:tc>
                  <a:txBody>
                    <a:bodyPr/>
                    <a:lstStyle/>
                    <a:p>
                      <a:pPr marL="0" indent="0">
                        <a:lnSpc>
                          <a:spcPts val="1820"/>
                        </a:lnSpc>
                        <a:buNone/>
                      </a:pPr>
                      <a:r>
                        <a:rPr lang="en-US" sz="1300" b="1" dirty="0">
                          <a:solidFill>
                            <a:srgbClr val="F5F3EC"/>
                          </a:solidFill>
                          <a:latin typeface="Plus Jakarta Sans" pitchFamily="34" charset="0"/>
                          <a:ea typeface="Plus Jakarta Sans" pitchFamily="34" charset="-122"/>
                          <a:cs typeface="Plus Jakarta Sans" pitchFamily="34" charset="-120"/>
                        </a:rPr>
                        <a:t>Description</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0F252D"/>
                      </a:solidFill>
                      <a:prstDash val="solid"/>
                      <a:round/>
                      <a:headEnd type="none" w="med" len="med"/>
                      <a:tailEnd type="none" w="med" len="med"/>
                    </a:lnL>
                    <a:lnR w="12700" cap="flat" cmpd="sng" algn="ctr">
                      <a:solidFill>
                        <a:srgbClr val="0F252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0F252D"/>
                      </a:solidFill>
                      <a:prstDash val="solid"/>
                      <a:round/>
                      <a:headEnd type="none" w="med" len="med"/>
                      <a:tailEnd type="none" w="med" len="med"/>
                    </a:lnB>
                    <a:solidFill>
                      <a:srgbClr val="0E2A34"/>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trip_id</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0F252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Unique ID for each ride</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0F252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start_time, end_time</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Ride start and end, parsed as dates</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tripduration</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Supplied duration in seconds (commas removed)</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from_station_name, to_station_name</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Start and end stations (not analysed yet)</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usertype</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Member (was Subscriber) or Casual (was Customer)</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ride_length</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end_time minus start_time, in seconds</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extLst>
                  <a:ext uri="{0D108BD9-81ED-4DB2-BD59-A6C34878D82A}">
                    <a16:rowId xmlns:a16="http://schemas.microsoft.com/office/drawing/2014/main" val="10006"/>
                  </a:ext>
                </a:extLst>
              </a:tr>
              <a:tr h="359304">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day_of_week</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0 = Monday to 6 = Sunday, from start_time</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7"/>
                  </a:ext>
                </a:extLst>
              </a:tr>
              <a:tr h="359304">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day_type</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C4C2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820"/>
                        </a:lnSpc>
                        <a:buNone/>
                      </a:pPr>
                      <a:r>
                        <a:rPr lang="en-US" sz="1300" dirty="0">
                          <a:solidFill>
                            <a:srgbClr val="14262D"/>
                          </a:solidFill>
                          <a:latin typeface="Plus Jakarta Sans" pitchFamily="34" charset="0"/>
                          <a:ea typeface="Plus Jakarta Sans" pitchFamily="34" charset="-122"/>
                          <a:cs typeface="Plus Jakarta Sans" pitchFamily="34" charset="-120"/>
                        </a:rPr>
                        <a:t>Weekday (0 to 4) or Weekend (5 and 6)</a:t>
                      </a:r>
                      <a:endParaRPr lang="en-US" sz="1300" dirty="0">
                        <a:latin typeface="Plus Jakarta Sans" charset="0"/>
                        <a:ea typeface="Plus Jakarta Sans" charset="0"/>
                        <a:cs typeface="Plus Jakarta Sans" charset="0"/>
                      </a:endParaRPr>
                    </a:p>
                  </a:txBody>
                  <a:tcPr marL="57785" marR="57785" marT="57785" marB="5778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APPENDIX</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A2 · Rides by day of week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138"/>
          <a:ext cx="10553700" cy="3473648"/>
        </p:xfrm>
        <a:graphic>
          <a:graphicData uri="http://schemas.openxmlformats.org/drawingml/2006/table">
            <a:tbl>
              <a:tblPr/>
              <a:tblGrid>
                <a:gridCol w="2955036">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F5F3EC"/>
                          </a:solidFill>
                          <a:latin typeface="Plus Jakarta Sans" pitchFamily="34" charset="0"/>
                          <a:ea typeface="Plus Jakarta Sans" pitchFamily="34" charset="-122"/>
                          <a:cs typeface="Plus Jakarta Sans" pitchFamily="34" charset="-120"/>
                        </a:rPr>
                        <a:t>Day</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0F252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0F252D"/>
                      </a:solidFill>
                      <a:prstDash val="solid"/>
                      <a:round/>
                      <a:headEnd type="none" w="med" len="med"/>
                      <a:tailEnd type="none" w="med" len="med"/>
                    </a:lnB>
                    <a:solidFill>
                      <a:srgbClr val="0E2A34"/>
                    </a:solidFill>
                  </a:tcPr>
                </a:tc>
                <a:tc>
                  <a:txBody>
                    <a:bodyPr/>
                    <a:lstStyle/>
                    <a:p>
                      <a:pPr marL="0" indent="0">
                        <a:lnSpc>
                          <a:spcPts val="1960"/>
                        </a:lnSpc>
                        <a:buNone/>
                      </a:pPr>
                      <a:r>
                        <a:rPr lang="en-US" sz="1400" b="1" dirty="0">
                          <a:solidFill>
                            <a:srgbClr val="F5F3EC"/>
                          </a:solidFill>
                          <a:latin typeface="Plus Jakarta Sans" pitchFamily="34" charset="0"/>
                          <a:ea typeface="Plus Jakarta Sans" pitchFamily="34" charset="-122"/>
                          <a:cs typeface="Plus Jakarta Sans" pitchFamily="34" charset="-120"/>
                        </a:rPr>
                        <a:t>Member rides</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0F252D"/>
                      </a:solidFill>
                      <a:prstDash val="solid"/>
                      <a:round/>
                      <a:headEnd type="none" w="med" len="med"/>
                      <a:tailEnd type="none" w="med" len="med"/>
                    </a:lnL>
                    <a:lnR w="12700" cap="flat" cmpd="sng" algn="ctr">
                      <a:solidFill>
                        <a:srgbClr val="0F252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0F252D"/>
                      </a:solidFill>
                      <a:prstDash val="solid"/>
                      <a:round/>
                      <a:headEnd type="none" w="med" len="med"/>
                      <a:tailEnd type="none" w="med" len="med"/>
                    </a:lnB>
                    <a:solidFill>
                      <a:srgbClr val="0E2A34"/>
                    </a:solidFill>
                  </a:tcPr>
                </a:tc>
                <a:tc>
                  <a:txBody>
                    <a:bodyPr/>
                    <a:lstStyle/>
                    <a:p>
                      <a:pPr marL="0" indent="0">
                        <a:lnSpc>
                          <a:spcPts val="1960"/>
                        </a:lnSpc>
                        <a:buNone/>
                      </a:pPr>
                      <a:r>
                        <a:rPr lang="en-US" sz="1400" b="1" dirty="0">
                          <a:solidFill>
                            <a:srgbClr val="F5F3EC"/>
                          </a:solidFill>
                          <a:latin typeface="Plus Jakarta Sans" pitchFamily="34" charset="0"/>
                          <a:ea typeface="Plus Jakarta Sans" pitchFamily="34" charset="-122"/>
                          <a:cs typeface="Plus Jakarta Sans" pitchFamily="34" charset="-120"/>
                        </a:rPr>
                        <a:t>Casual rides</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0F252D"/>
                      </a:solidFill>
                      <a:prstDash val="solid"/>
                      <a:round/>
                      <a:headEnd type="none" w="med" len="med"/>
                      <a:tailEnd type="none" w="med" len="med"/>
                    </a:lnL>
                    <a:lnR w="12700" cap="flat" cmpd="sng" algn="ctr">
                      <a:solidFill>
                        <a:srgbClr val="0F252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0F252D"/>
                      </a:solidFill>
                      <a:prstDash val="solid"/>
                      <a:round/>
                      <a:headEnd type="none" w="med" len="med"/>
                      <a:tailEnd type="none" w="med" len="med"/>
                    </a:lnB>
                    <a:solidFill>
                      <a:srgbClr val="0E2A34"/>
                    </a:solidFill>
                  </a:tcPr>
                </a:tc>
                <a:tc>
                  <a:txBody>
                    <a:bodyPr/>
                    <a:lstStyle/>
                    <a:p>
                      <a:pPr marL="0" indent="0">
                        <a:lnSpc>
                          <a:spcPts val="1960"/>
                        </a:lnSpc>
                        <a:buNone/>
                      </a:pPr>
                      <a:r>
                        <a:rPr lang="en-US" sz="1400" b="1" dirty="0">
                          <a:solidFill>
                            <a:srgbClr val="F5F3EC"/>
                          </a:solidFill>
                          <a:latin typeface="Plus Jakarta Sans" pitchFamily="34" charset="0"/>
                          <a:ea typeface="Plus Jakarta Sans" pitchFamily="34" charset="-122"/>
                          <a:cs typeface="Plus Jakarta Sans" pitchFamily="34" charset="-120"/>
                        </a:rPr>
                        <a:t>Casual share of day</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0F252D"/>
                      </a:solidFill>
                      <a:prstDash val="solid"/>
                      <a:round/>
                      <a:headEnd type="none" w="med" len="med"/>
                      <a:tailEnd type="none" w="med" len="med"/>
                    </a:lnL>
                    <a:lnR w="12700" cap="flat" cmpd="sng" algn="ctr">
                      <a:solidFill>
                        <a:srgbClr val="0F252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0F252D"/>
                      </a:solidFill>
                      <a:prstDash val="solid"/>
                      <a:round/>
                      <a:headEnd type="none" w="med" len="med"/>
                      <a:tailEnd type="none" w="med" len="med"/>
                    </a:lnB>
                    <a:solidFill>
                      <a:srgbClr val="0E2A3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Monday</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0F252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458,780</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0F252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101,489</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0F252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18.1%</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0F252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Tuesday</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497,025</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88,655</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15.1%</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Wednesday</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494,277</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89,745</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15.4%</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Thursday</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486,915</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101,372</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17.2%</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Friday</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456,966</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121,141</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21.0%</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Saturday</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287,163</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208,056</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42.0%</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Sunday</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256,234</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170,173</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39.9%</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Total</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2,937,360</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880,631</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tc>
                  <a:txBody>
                    <a:bodyPr/>
                    <a:lstStyle/>
                    <a:p>
                      <a:pPr marL="0" indent="0">
                        <a:lnSpc>
                          <a:spcPts val="1960"/>
                        </a:lnSpc>
                        <a:buNone/>
                      </a:pPr>
                      <a:r>
                        <a:rPr lang="en-US" sz="1400" dirty="0">
                          <a:solidFill>
                            <a:srgbClr val="14262D"/>
                          </a:solidFill>
                          <a:latin typeface="Plus Jakarta Sans" pitchFamily="34" charset="0"/>
                          <a:ea typeface="Plus Jakarta Sans" pitchFamily="34" charset="-122"/>
                          <a:cs typeface="Plus Jakarta Sans" pitchFamily="34" charset="-120"/>
                        </a:rPr>
                        <a:t>23.1%</a:t>
                      </a:r>
                      <a:endParaRPr lang="en-US" sz="1400" dirty="0">
                        <a:latin typeface="Plus Jakarta Sans" charset="0"/>
                        <a:ea typeface="Plus Jakarta Sans" charset="0"/>
                        <a:cs typeface="Plus Jakarta Sans" charset="0"/>
                      </a:endParaRPr>
                    </a:p>
                  </a:txBody>
                  <a:tcPr marL="62230" marR="62230" marT="62230" marB="62230">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CE2"/>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APPENDIX</a:t>
            </a:r>
            <a:endParaRPr lang="en-US" sz="1300" dirty="0"/>
          </a:p>
        </p:txBody>
      </p:sp>
      <p:sp>
        <p:nvSpPr>
          <p:cNvPr id="3" name="Text 1"/>
          <p:cNvSpPr>
            <a:spLocks noGrp="1"/>
          </p:cNvSpPr>
          <p:nvPr>
            <p:ph type="title"/>
          </p:nvPr>
        </p:nvSpPr>
        <p:spPr>
          <a:xfrm>
            <a:off x="812800" y="1120118"/>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62D"/>
                </a:solidFill>
                <a:latin typeface="Plus Jakarta Sans" pitchFamily="34" charset="0"/>
                <a:ea typeface="Plus Jakarta Sans" pitchFamily="34" charset="-122"/>
                <a:cs typeface="Plus Jakarta Sans" pitchFamily="34" charset="-120"/>
              </a:rPr>
              <a:t>A3 · Limits and good practice</a:t>
            </a:r>
            <a:endParaRPr lang="en-US" sz="3200" dirty="0"/>
          </a:p>
        </p:txBody>
      </p:sp>
      <p:sp>
        <p:nvSpPr>
          <p:cNvPr id="4" name="Shape 2"/>
          <p:cNvSpPr/>
          <p:nvPr/>
        </p:nvSpPr>
        <p:spPr>
          <a:xfrm>
            <a:off x="815975" y="1844613"/>
            <a:ext cx="5175250" cy="2557330"/>
          </a:xfrm>
          <a:prstGeom prst="roundRect">
            <a:avLst>
              <a:gd name="adj" fmla="val 4842"/>
            </a:avLst>
          </a:prstGeom>
          <a:solidFill>
            <a:srgbClr val="FCFBF7"/>
          </a:solidFill>
          <a:ln w="6350">
            <a:solidFill>
              <a:srgbClr val="DCD8CC"/>
            </a:solidFill>
            <a:prstDash val="solid"/>
          </a:ln>
        </p:spPr>
      </p:sp>
      <p:sp>
        <p:nvSpPr>
          <p:cNvPr id="5" name="Text 3"/>
          <p:cNvSpPr/>
          <p:nvPr/>
        </p:nvSpPr>
        <p:spPr>
          <a:xfrm>
            <a:off x="1071033" y="2099667"/>
            <a:ext cx="4805087"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LIMITS OF THIS ANALYSIS</a:t>
            </a:r>
            <a:endParaRPr lang="en-US" sz="1300" dirty="0"/>
          </a:p>
        </p:txBody>
      </p:sp>
      <p:sp>
        <p:nvSpPr>
          <p:cNvPr id="6" name="Text 4"/>
          <p:cNvSpPr/>
          <p:nvPr/>
        </p:nvSpPr>
        <p:spPr>
          <a:xfrm>
            <a:off x="1142153" y="2432385"/>
            <a:ext cx="4726347" cy="17399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2019 data only; behaviour may have changed</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Rides are counted, not individual people</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Mean ride length is lifted by very long rides, which were kept</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Reason for riding is not recorded</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Day of week is based on ride start time</a:t>
            </a:r>
            <a:endParaRPr lang="en-US" sz="1500" dirty="0"/>
          </a:p>
        </p:txBody>
      </p:sp>
      <p:sp>
        <p:nvSpPr>
          <p:cNvPr id="7" name="Shape 5"/>
          <p:cNvSpPr/>
          <p:nvPr/>
        </p:nvSpPr>
        <p:spPr>
          <a:xfrm>
            <a:off x="6200775" y="1844613"/>
            <a:ext cx="5175250" cy="2557330"/>
          </a:xfrm>
          <a:prstGeom prst="roundRect">
            <a:avLst>
              <a:gd name="adj" fmla="val 4842"/>
            </a:avLst>
          </a:prstGeom>
          <a:solidFill>
            <a:srgbClr val="FCFBF7"/>
          </a:solidFill>
          <a:ln w="6350">
            <a:solidFill>
              <a:srgbClr val="DCD8CC"/>
            </a:solidFill>
            <a:prstDash val="solid"/>
          </a:ln>
        </p:spPr>
      </p:sp>
      <p:sp>
        <p:nvSpPr>
          <p:cNvPr id="8" name="Text 6"/>
          <p:cNvSpPr/>
          <p:nvPr/>
        </p:nvSpPr>
        <p:spPr>
          <a:xfrm>
            <a:off x="6455833" y="2099667"/>
            <a:ext cx="4805087"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B4510C"/>
                </a:solidFill>
                <a:latin typeface="Plus Jakarta Sans" pitchFamily="34" charset="0"/>
                <a:ea typeface="Plus Jakarta Sans" pitchFamily="34" charset="-122"/>
                <a:cs typeface="Plus Jakarta Sans" pitchFamily="34" charset="-120"/>
              </a:rPr>
              <a:t>GOOD PRACTICE FOLLOWED</a:t>
            </a:r>
            <a:endParaRPr lang="en-US" sz="1300" dirty="0"/>
          </a:p>
        </p:txBody>
      </p:sp>
      <p:sp>
        <p:nvSpPr>
          <p:cNvPr id="9" name="Text 7"/>
          <p:cNvSpPr/>
          <p:nvPr/>
        </p:nvSpPr>
        <p:spPr>
          <a:xfrm>
            <a:off x="6526953" y="2432385"/>
            <a:ext cx="4726347" cy="14541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No personally identifiable information used</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Data used under the Divvy licence</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Every cleaning step documented in the notebook</a:t>
            </a:r>
            <a:endParaRPr lang="en-US" sz="1500" dirty="0"/>
          </a:p>
          <a:p>
            <a:pPr marL="182880" indent="-182880" algn="l">
              <a:lnSpc>
                <a:spcPts val="2250"/>
              </a:lnSpc>
              <a:buSzPct val="100000"/>
              <a:buChar char="•"/>
            </a:pPr>
            <a:r>
              <a:rPr lang="en-US" sz="1500" dirty="0">
                <a:solidFill>
                  <a:srgbClr val="14262D"/>
                </a:solidFill>
                <a:latin typeface="Plus Jakarta Sans" pitchFamily="34" charset="0"/>
                <a:ea typeface="Plus Jakarta Sans" pitchFamily="34" charset="-122"/>
                <a:cs typeface="Plus Jakarta Sans" pitchFamily="34" charset="-120"/>
              </a:rPr>
              <a:t>Findings reported with both mean and median</a:t>
            </a:r>
            <a:endParaRPr lang="en-US" sz="15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Cyclistic · Members vs. casual riders · 2019 trip data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870"/>
                </a:solidFill>
                <a:latin typeface="Plus Jakarta Sans" pitchFamily="34" charset="0"/>
                <a:ea typeface="Plus Jakarta Sans" pitchFamily="34" charset="-122"/>
                <a:cs typeface="Plus Jakarta Sans" pitchFamily="34" charset="-120"/>
              </a:rPr>
              <a:t>25</a:t>
            </a:r>
            <a:endParaRPr lang="en-US" sz="1200" dirty="0"/>
          </a:p>
        </p:txBody>
      </p:sp>
    </p:spTree>
  </p:cSld>
  <p:clrMapOvr>
    <a:masterClrMapping/>
  </p:clrMapOvr>
</p:sld>
</file>

<file path=ppt/theme/theme1.xml><?xml version="1.0" encoding="utf-8"?>
<a:theme xmlns:a="http://schemas.openxmlformats.org/drawingml/2006/main" name="Cyclistic: How Members and Casual Riders Differ">
  <a:themeElements>
    <a:clrScheme name="Cyclistic: How Members and Casual Riders Differ">
      <a:dk1>
        <a:srgbClr val="14262D"/>
      </a:dk1>
      <a:lt1>
        <a:srgbClr val="F5F3EC"/>
      </a:lt1>
      <a:dk2>
        <a:srgbClr val="4C595D"/>
      </a:dk2>
      <a:lt2>
        <a:srgbClr val="DFDFD9"/>
      </a:lt2>
      <a:accent1>
        <a:srgbClr val="B4510C"/>
      </a:accent1>
      <a:accent2>
        <a:srgbClr val="1F6F85"/>
      </a:accent2>
      <a:accent3>
        <a:srgbClr val="E8833A"/>
      </a:accent3>
      <a:accent4>
        <a:srgbClr val="F29A55"/>
      </a:accent4>
      <a:accent5>
        <a:srgbClr val="4A6B78"/>
      </a:accent5>
      <a:accent6>
        <a:srgbClr val="8FC1CF"/>
      </a:accent6>
      <a:hlink>
        <a:srgbClr val="0563C1"/>
      </a:hlink>
      <a:folHlink>
        <a:srgbClr val="954F72"/>
      </a:folHlink>
    </a:clrScheme>
    <a:fontScheme name="Cyclistic: How Members and Casual Riders Differ">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2421</Words>
  <Application>Microsoft Office PowerPoint</Application>
  <PresentationFormat>Widescreen</PresentationFormat>
  <Paragraphs>423</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Plus Jakarta Sans</vt:lpstr>
      <vt:lpstr>Cyclistic: How Members and Casual Riders Differ</vt:lpstr>
      <vt:lpstr>How members and casual riders use Cyclistic bikes differently</vt:lpstr>
      <vt:lpstr>What we will cover</vt:lpstr>
      <vt:lpstr>Business task</vt:lpstr>
      <vt:lpstr>The task in one sentence</vt:lpstr>
      <vt:lpstr>Key stakeholders</vt:lpstr>
      <vt:lpstr>Analysis</vt:lpstr>
      <vt:lpstr>Data sources</vt:lpstr>
      <vt:lpstr>Cleaning process</vt:lpstr>
      <vt:lpstr>How we measured</vt:lpstr>
      <vt:lpstr>Problem</vt:lpstr>
      <vt:lpstr>Who rides: members vs. casual riders</vt:lpstr>
      <vt:lpstr>Weekday and weekend riding</vt:lpstr>
      <vt:lpstr>Rides by day of week</vt:lpstr>
      <vt:lpstr>Ride length (minutes)</vt:lpstr>
      <vt:lpstr>Aha moment</vt:lpstr>
      <vt:lpstr>Share of rides vs. share of ride time</vt:lpstr>
      <vt:lpstr>Two riding profiles</vt:lpstr>
      <vt:lpstr>Conclusion</vt:lpstr>
      <vt:lpstr>Key findings</vt:lpstr>
      <vt:lpstr>Top three recommendations</vt:lpstr>
      <vt:lpstr>Next steps and further data</vt:lpstr>
      <vt:lpstr>Appendix</vt:lpstr>
      <vt:lpstr>A1 · Data dictionary</vt:lpstr>
      <vt:lpstr>A2 · Rides by day of week</vt:lpstr>
      <vt:lpstr>A3 · Limits and good 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Cyclistic: How Members and Casual Riders Differ</dc:title>
  <dc:subject/>
  <dc:creator/>
  <cp:lastModifiedBy>𝙵𝙸𝚉𝙰𝙰𝙽 .</cp:lastModifiedBy>
  <cp:revision>1</cp:revision>
  <dcterms:created xsi:type="dcterms:W3CDTF">2026-10-11T13:54:13Z</dcterms:created>
  <dcterms:modified xsi:type="dcterms:W3CDTF">2026-10-11T14:31:19Z</dcterms:modified>
</cp:coreProperties>
</file>